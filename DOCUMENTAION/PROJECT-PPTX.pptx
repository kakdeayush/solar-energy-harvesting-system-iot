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jpe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75" r:id="rId2"/>
    <p:sldId id="258" r:id="rId3"/>
    <p:sldId id="266" r:id="rId4"/>
    <p:sldId id="267" r:id="rId5"/>
    <p:sldId id="268" r:id="rId6"/>
    <p:sldId id="269" r:id="rId7"/>
    <p:sldId id="274" r:id="rId8"/>
    <p:sldId id="270" r:id="rId9"/>
    <p:sldId id="271" r:id="rId10"/>
    <p:sldId id="272" r:id="rId11"/>
    <p:sldId id="27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0" d="100"/>
          <a:sy n="80" d="100"/>
        </p:scale>
        <p:origin x="354" y="-4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D69555-EE48-4B19-812B-4E1068DBF976}"/>
              </a:ext>
            </a:extLst>
          </p:cNvPr>
          <p:cNvSpPr/>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57">
            <a:extLst>
              <a:ext uri="{FF2B5EF4-FFF2-40B4-BE49-F238E27FC236}">
                <a16:creationId xmlns:a16="http://schemas.microsoft.com/office/drawing/2014/main" id="{57AEB73D-F521-4B19-820F-12DB6BCC8406}"/>
              </a:ext>
            </a:extLst>
          </p:cNvPr>
          <p:cNvSpPr/>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sp>
      <p:sp>
        <p:nvSpPr>
          <p:cNvPr id="2" name="Title 1"/>
          <p:cNvSpPr>
            <a:spLocks noGrp="1"/>
          </p:cNvSpPr>
          <p:nvPr>
            <p:ph type="ctrTitle"/>
          </p:nvPr>
        </p:nvSpPr>
        <p:spPr>
          <a:xfrm>
            <a:off x="855388" y="863068"/>
            <a:ext cx="6007691" cy="4985916"/>
          </a:xfrm>
        </p:spPr>
        <p:txBody>
          <a:bodyPr anchor="ctr">
            <a:noAutofit/>
          </a:bodyPr>
          <a:lstStyle>
            <a:lvl1pPr algn="l">
              <a:lnSpc>
                <a:spcPct val="125000"/>
              </a:lnSpc>
              <a:defRPr sz="6000" b="0" cap="all" spc="150" baseline="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197352" y="863068"/>
            <a:ext cx="3351729" cy="5120069"/>
          </a:xfrm>
        </p:spPr>
        <p:txBody>
          <a:bodyPr anchor="ctr">
            <a:normAutofit/>
          </a:bodyPr>
          <a:lstStyle>
            <a:lvl1pPr marL="0" indent="0" algn="l">
              <a:lnSpc>
                <a:spcPct val="150000"/>
              </a:lnSpc>
              <a:buNone/>
              <a:defRPr sz="2400" b="0" cap="none" baseline="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Rectangle 6">
            <a:extLst>
              <a:ext uri="{FF2B5EF4-FFF2-40B4-BE49-F238E27FC236}">
                <a16:creationId xmlns:a16="http://schemas.microsoft.com/office/drawing/2014/main" id="{6B72EEBA-3A5D-41CE-8465-A45A0F65674E}"/>
              </a:ext>
            </a:extLst>
          </p:cNvPr>
          <p:cNvSpPr/>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ate Placeholder 12">
            <a:extLst>
              <a:ext uri="{FF2B5EF4-FFF2-40B4-BE49-F238E27FC236}">
                <a16:creationId xmlns:a16="http://schemas.microsoft.com/office/drawing/2014/main" id="{79F4CF2F-CDFA-4A37-837C-819D5238EAB4}"/>
              </a:ext>
            </a:extLst>
          </p:cNvPr>
          <p:cNvSpPr>
            <a:spLocks noGrp="1"/>
          </p:cNvSpPr>
          <p:nvPr>
            <p:ph type="dt" sz="half" idx="10"/>
          </p:nvPr>
        </p:nvSpPr>
        <p:spPr>
          <a:xfrm>
            <a:off x="8197353" y="6309360"/>
            <a:ext cx="2151134" cy="457200"/>
          </a:xfrm>
        </p:spPr>
        <p:txBody>
          <a:bodyPr/>
          <a:lstStyle/>
          <a:p>
            <a:pPr algn="l"/>
            <a:fld id="{0DCFB061-4267-4D9F-8017-6F550D3068DF}" type="datetime1">
              <a:rPr lang="en-US" smtClean="0"/>
              <a:t>05-Nov-24</a:t>
            </a:fld>
            <a:endParaRPr lang="en-US" dirty="0"/>
          </a:p>
        </p:txBody>
      </p:sp>
      <p:sp>
        <p:nvSpPr>
          <p:cNvPr id="15" name="Footer Placeholder 14">
            <a:extLst>
              <a:ext uri="{FF2B5EF4-FFF2-40B4-BE49-F238E27FC236}">
                <a16:creationId xmlns:a16="http://schemas.microsoft.com/office/drawing/2014/main" id="{CFECE62A-61A4-407D-8F0B-D459CD977C75}"/>
              </a:ext>
            </a:extLst>
          </p:cNvPr>
          <p:cNvSpPr>
            <a:spLocks noGrp="1"/>
          </p:cNvSpPr>
          <p:nvPr>
            <p:ph type="ftr" sz="quarter" idx="11"/>
          </p:nvPr>
        </p:nvSpPr>
        <p:spPr>
          <a:xfrm>
            <a:off x="855388" y="6309360"/>
            <a:ext cx="6007691" cy="457200"/>
          </a:xfrm>
        </p:spPr>
        <p:txBody>
          <a:bodyPr/>
          <a:lstStyle>
            <a:lvl1pPr algn="r">
              <a:defRPr/>
            </a:lvl1pPr>
          </a:lstStyle>
          <a:p>
            <a:pPr algn="l"/>
            <a:endParaRPr lang="en-US" dirty="0"/>
          </a:p>
        </p:txBody>
      </p:sp>
      <p:sp>
        <p:nvSpPr>
          <p:cNvPr id="27" name="Slide Number Placeholder 26">
            <a:extLst>
              <a:ext uri="{FF2B5EF4-FFF2-40B4-BE49-F238E27FC236}">
                <a16:creationId xmlns:a16="http://schemas.microsoft.com/office/drawing/2014/main" id="{99FE60A9-FE2A-451F-9244-60FCE7FE9AD7}"/>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3029415152"/>
      </p:ext>
    </p:extLst>
  </p:cSld>
  <p:clrMapOvr>
    <a:masterClrMapping/>
  </p:clrMapOvr>
  <p:extLst>
    <p:ext uri="{DCECCB84-F9BA-43D5-87BE-67443E8EF086}">
      <p15:sldGuideLst xmlns:p15="http://schemas.microsoft.com/office/powerpoint/2012/main">
        <p15:guide id="1" orient="horz" pos="40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7A4ED5C-5A53-433E-8A55-46F54CE81DA5}" type="datetime1">
              <a:rPr lang="en-US" smtClean="0"/>
              <a:t>05-Nov-24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extLst>
      <p:ext uri="{BB962C8B-B14F-4D97-AF65-F5344CB8AC3E}">
        <p14:creationId xmlns:p14="http://schemas.microsoft.com/office/powerpoint/2010/main" val="31789330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FD12B6-57DE-4B63-A723-500B050FB7DD}"/>
              </a:ext>
            </a:extLst>
          </p:cNvPr>
          <p:cNvSpPr/>
          <p:nvPr/>
        </p:nvSpPr>
        <p:spPr>
          <a:xfrm>
            <a:off x="0" y="4215384"/>
            <a:ext cx="12192000" cy="2642616"/>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5316" y="1406284"/>
            <a:ext cx="10593694" cy="2597841"/>
          </a:xfrm>
        </p:spPr>
        <p:txBody>
          <a:bodyPr anchor="b">
            <a:normAutofit/>
          </a:bodyPr>
          <a:lstStyle>
            <a:lvl1pPr algn="ctr">
              <a:lnSpc>
                <a:spcPct val="125000"/>
              </a:lnSpc>
              <a:defRPr sz="4400" baseline="0">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2818312" y="4527856"/>
            <a:ext cx="6559018" cy="1570245"/>
          </a:xfrm>
        </p:spPr>
        <p:txBody>
          <a:bodyPr anchor="t">
            <a:normAutofit/>
          </a:bodyPr>
          <a:lstStyle>
            <a:lvl1pPr marL="0" indent="0" algn="ctr">
              <a:lnSpc>
                <a:spcPct val="130000"/>
              </a:lnSpc>
              <a:spcBef>
                <a:spcPts val="0"/>
              </a:spcBef>
              <a:buNone/>
              <a:defRPr sz="2400" b="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5F1E2E75-4758-4930-8024-39287C962987}"/>
              </a:ext>
            </a:extLst>
          </p:cNvPr>
          <p:cNvSpPr>
            <a:spLocks noGrp="1"/>
          </p:cNvSpPr>
          <p:nvPr>
            <p:ph type="dt" sz="half" idx="10"/>
          </p:nvPr>
        </p:nvSpPr>
        <p:spPr/>
        <p:txBody>
          <a:bodyPr/>
          <a:lstStyle/>
          <a:p>
            <a:fld id="{29CABC0C-B6DF-45E9-B954-11C99AA62C3E}" type="datetime1">
              <a:rPr lang="en-US" smtClean="0"/>
              <a:t>05-Nov-24</a:t>
            </a:fld>
            <a:endParaRPr lang="en-US" dirty="0"/>
          </a:p>
        </p:txBody>
      </p:sp>
      <p:sp>
        <p:nvSpPr>
          <p:cNvPr id="8" name="Footer Placeholder 7">
            <a:extLst>
              <a:ext uri="{FF2B5EF4-FFF2-40B4-BE49-F238E27FC236}">
                <a16:creationId xmlns:a16="http://schemas.microsoft.com/office/drawing/2014/main" id="{488B9949-402C-42C2-9A94-16590FC0C592}"/>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39D83F6-DAF4-4876-AA41-F246EC970F7D}"/>
              </a:ext>
            </a:extLst>
          </p:cNvPr>
          <p:cNvSpPr>
            <a:spLocks noGrp="1"/>
          </p:cNvSpPr>
          <p:nvPr>
            <p:ph type="sldNum" sz="quarter" idx="12"/>
          </p:nvPr>
        </p:nvSpPr>
        <p:spPr/>
        <p:txBody>
          <a:bodyPr/>
          <a:lstStyle/>
          <a:p>
            <a:fld id="{FAEF9944-A4F6-4C59-AEBD-678D6480B8EA}" type="slidenum">
              <a:rPr lang="en-US" smtClean="0"/>
              <a:pPr/>
              <a:t>‹#›</a:t>
            </a:fld>
            <a:endParaRPr lang="en-US" dirty="0"/>
          </a:p>
        </p:txBody>
      </p:sp>
      <p:sp>
        <p:nvSpPr>
          <p:cNvPr id="11" name="Rectangle 10">
            <a:extLst>
              <a:ext uri="{FF2B5EF4-FFF2-40B4-BE49-F238E27FC236}">
                <a16:creationId xmlns:a16="http://schemas.microsoft.com/office/drawing/2014/main" id="{91613A19-DDA2-44F6-9ED4-F87771C684B8}"/>
              </a:ext>
            </a:extLst>
          </p:cNvPr>
          <p:cNvSpPr/>
          <p:nvPr/>
        </p:nvSpPr>
        <p:spPr>
          <a:xfrm>
            <a:off x="0" y="4215384"/>
            <a:ext cx="1218895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81556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hasCustomPrompt="1"/>
          </p:nvPr>
        </p:nvSpPr>
        <p:spPr>
          <a:xfrm>
            <a:off x="5376670" y="705114"/>
            <a:ext cx="6172412" cy="2403846"/>
          </a:xfrm>
        </p:spPr>
        <p:txBody>
          <a:bodyPr anchor="b"/>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376670" y="3749040"/>
            <a:ext cx="6172411" cy="2346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4AB71B9-2624-4F21-93EE-35A78B1A0DAD}" type="datetime1">
              <a:rPr lang="en-US" smtClean="0"/>
              <a:t>05-Nov-24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FAEF9944-A4F6-4C59-AEBD-678D6480B8EA}" type="slidenum">
              <a:rPr lang="en-US" dirty="0"/>
              <a:t>‹#›</a:t>
            </a:fld>
            <a:endParaRPr lang="en-US" dirty="0"/>
          </a:p>
        </p:txBody>
      </p:sp>
      <p:sp>
        <p:nvSpPr>
          <p:cNvPr id="10" name="Rectangle 9">
            <a:extLst>
              <a:ext uri="{FF2B5EF4-FFF2-40B4-BE49-F238E27FC236}">
                <a16:creationId xmlns:a16="http://schemas.microsoft.com/office/drawing/2014/main" id="{5CE6B9B5-A5D1-4099-B52B-78F39AB0AFCB}"/>
              </a:ext>
            </a:extLst>
          </p:cNvPr>
          <p:cNvSpPr/>
          <p:nvPr/>
        </p:nvSpPr>
        <p:spPr>
          <a:xfrm rot="10800000">
            <a:off x="4693920" y="3396997"/>
            <a:ext cx="749808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35651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376667" y="658999"/>
            <a:ext cx="6166422" cy="457200"/>
          </a:xfrm>
        </p:spPr>
        <p:txBody>
          <a:bodyPr anchor="b">
            <a:normAutofit/>
          </a:bodyPr>
          <a:lstStyle>
            <a:lvl1pPr marL="0" indent="0">
              <a:lnSpc>
                <a:spcPct val="130000"/>
              </a:lnSpc>
              <a:buNone/>
              <a:defRPr sz="1800" b="1"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376668" y="1116199"/>
            <a:ext cx="6166422" cy="20621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376668" y="3623098"/>
            <a:ext cx="6166421" cy="457200"/>
          </a:xfrm>
        </p:spPr>
        <p:txBody>
          <a:bodyPr anchor="b">
            <a:normAutofit/>
          </a:bodyPr>
          <a:lstStyle>
            <a:lvl1pPr marL="0" indent="0">
              <a:lnSpc>
                <a:spcPct val="99000"/>
              </a:lnSpc>
              <a:buNone/>
              <a:defRPr lang="en-US" sz="1800" b="1" kern="1200" cap="all" spc="150"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30000"/>
              </a:lnSpc>
              <a:spcBef>
                <a:spcPts val="930"/>
              </a:spcBef>
              <a:buFont typeface="Corbel" panose="020B0503020204020204" pitchFamily="34" charset="0"/>
              <a:buNone/>
            </a:pPr>
            <a:r>
              <a:rPr lang="en-US"/>
              <a:t>Click to edit Master text styles</a:t>
            </a:r>
          </a:p>
        </p:txBody>
      </p:sp>
      <p:sp>
        <p:nvSpPr>
          <p:cNvPr id="6" name="Content Placeholder 5"/>
          <p:cNvSpPr>
            <a:spLocks noGrp="1"/>
          </p:cNvSpPr>
          <p:nvPr>
            <p:ph sz="quarter" idx="4"/>
          </p:nvPr>
        </p:nvSpPr>
        <p:spPr>
          <a:xfrm>
            <a:off x="5376670" y="4102370"/>
            <a:ext cx="6166419" cy="20665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6D37C2A-BE2E-4840-A907-3254E2916C96}" type="datetime1">
              <a:rPr lang="en-US" smtClean="0"/>
              <a:t>05-Nov-24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FAEF9944-A4F6-4C59-AEBD-678D6480B8EA}" type="slidenum">
              <a:rPr lang="en-US" dirty="0"/>
              <a:t>‹#›</a:t>
            </a:fld>
            <a:endParaRPr lang="en-US" dirty="0"/>
          </a:p>
        </p:txBody>
      </p:sp>
      <p:sp>
        <p:nvSpPr>
          <p:cNvPr id="10" name="Title 9">
            <a:extLst>
              <a:ext uri="{FF2B5EF4-FFF2-40B4-BE49-F238E27FC236}">
                <a16:creationId xmlns:a16="http://schemas.microsoft.com/office/drawing/2014/main" id="{D26B370B-8381-431F-9492-0EA1205113EE}"/>
              </a:ext>
            </a:extLst>
          </p:cNvPr>
          <p:cNvSpPr>
            <a:spLocks noGrp="1"/>
          </p:cNvSpPr>
          <p:nvPr>
            <p:ph type="title"/>
          </p:nvPr>
        </p:nvSpPr>
        <p:spPr/>
        <p:txBody>
          <a:bodyPr/>
          <a:lstStyle/>
          <a:p>
            <a:r>
              <a:rPr lang="en-US"/>
              <a:t>Click to edit Master title style</a:t>
            </a:r>
          </a:p>
        </p:txBody>
      </p:sp>
      <p:sp>
        <p:nvSpPr>
          <p:cNvPr id="12" name="Rectangle 11">
            <a:extLst>
              <a:ext uri="{FF2B5EF4-FFF2-40B4-BE49-F238E27FC236}">
                <a16:creationId xmlns:a16="http://schemas.microsoft.com/office/drawing/2014/main" id="{DCA89085-2231-4A9C-B23C-B199A9DD26C5}"/>
              </a:ext>
            </a:extLst>
          </p:cNvPr>
          <p:cNvSpPr/>
          <p:nvPr/>
        </p:nvSpPr>
        <p:spPr>
          <a:xfrm rot="10800000">
            <a:off x="4693920" y="3396997"/>
            <a:ext cx="749808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636120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05CD215-1C45-48A0-8534-39FFE8A7C95A}" type="datetime1">
              <a:rPr lang="en-US" smtClean="0"/>
              <a:t>05-Nov-24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FAEF9944-A4F6-4C59-AEBD-678D6480B8EA}" type="slidenum">
              <a:rPr lang="en-US" dirty="0"/>
              <a:t>‹#›</a:t>
            </a:fld>
            <a:endParaRPr lang="en-US" dirty="0"/>
          </a:p>
        </p:txBody>
      </p:sp>
    </p:spTree>
    <p:extLst>
      <p:ext uri="{BB962C8B-B14F-4D97-AF65-F5344CB8AC3E}">
        <p14:creationId xmlns:p14="http://schemas.microsoft.com/office/powerpoint/2010/main" val="10033055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fld id="{D3363A0F-DEF3-4134-98D0-2E1276938A8B}" type="datetime1">
              <a:rPr lang="en-US" smtClean="0"/>
              <a:t>05-Nov-24</a:t>
            </a:fld>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730341394"/>
      </p:ext>
    </p:extLst>
  </p:cSld>
  <p:clrMapOvr>
    <a:masterClrMapping/>
  </p:clrMapOvr>
  <p:extLst>
    <p:ext uri="{DCECCB84-F9BA-43D5-87BE-67443E8EF086}">
      <p15:sldGuideLst xmlns:p15="http://schemas.microsoft.com/office/powerpoint/2012/main">
        <p15:guide id="1" pos="540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CA29BA-0143-49FF-8608-DB1623D99537}"/>
              </a:ext>
            </a:extLst>
          </p:cNvPr>
          <p:cNvSpPr/>
          <p:nvPr/>
        </p:nvSpPr>
        <p:spPr>
          <a:xfrm>
            <a:off x="0" y="0"/>
            <a:ext cx="8248592"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753015" y="640079"/>
            <a:ext cx="2796066" cy="2551751"/>
          </a:xfrm>
        </p:spPr>
        <p:txBody>
          <a:bodyPr anchor="b">
            <a:normAutofit/>
          </a:bodyPr>
          <a:lstStyle>
            <a:lvl1pPr algn="l">
              <a:lnSpc>
                <a:spcPct val="135000"/>
              </a:lnSpc>
              <a:defRPr sz="3200"/>
            </a:lvl1pPr>
          </a:lstStyle>
          <a:p>
            <a:r>
              <a:rPr lang="en-US"/>
              <a:t>Click to edit Master title style</a:t>
            </a:r>
            <a:endParaRPr lang="en-US" dirty="0"/>
          </a:p>
        </p:txBody>
      </p:sp>
      <p:sp>
        <p:nvSpPr>
          <p:cNvPr id="3" name="Content Placeholder 2"/>
          <p:cNvSpPr>
            <a:spLocks noGrp="1"/>
          </p:cNvSpPr>
          <p:nvPr>
            <p:ph idx="1"/>
          </p:nvPr>
        </p:nvSpPr>
        <p:spPr>
          <a:xfrm>
            <a:off x="638818" y="640078"/>
            <a:ext cx="6969693" cy="5455921"/>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hasCustomPrompt="1"/>
          </p:nvPr>
        </p:nvSpPr>
        <p:spPr>
          <a:xfrm>
            <a:off x="8753015" y="3223803"/>
            <a:ext cx="2796066" cy="2872197"/>
          </a:xfrm>
        </p:spPr>
        <p:txBody>
          <a:bodyPr anchor="t">
            <a:normAutofit/>
          </a:bodyPr>
          <a:lstStyle>
            <a:lvl1pPr marL="0" indent="0">
              <a:spcBef>
                <a:spcPts val="1400"/>
              </a:spcBef>
              <a:buNone/>
              <a:defRPr sz="1800" b="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9" name="Rectangle 8">
            <a:extLst>
              <a:ext uri="{FF2B5EF4-FFF2-40B4-BE49-F238E27FC236}">
                <a16:creationId xmlns:a16="http://schemas.microsoft.com/office/drawing/2014/main" id="{3010CF18-370D-4E80-AE4C-396FFDFCAE5D}"/>
              </a:ext>
            </a:extLst>
          </p:cNvPr>
          <p:cNvSpPr/>
          <p:nvPr/>
        </p:nvSpPr>
        <p:spPr>
          <a:xfrm rot="5400000">
            <a:off x="485159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ate Placeholder 9">
            <a:extLst>
              <a:ext uri="{FF2B5EF4-FFF2-40B4-BE49-F238E27FC236}">
                <a16:creationId xmlns:a16="http://schemas.microsoft.com/office/drawing/2014/main" id="{C5EBFE9C-5A22-4462-9C51-E00C03F55C3D}"/>
              </a:ext>
            </a:extLst>
          </p:cNvPr>
          <p:cNvSpPr>
            <a:spLocks noGrp="1"/>
          </p:cNvSpPr>
          <p:nvPr>
            <p:ph type="dt" sz="half" idx="10"/>
          </p:nvPr>
        </p:nvSpPr>
        <p:spPr>
          <a:xfrm>
            <a:off x="8753015" y="6309360"/>
            <a:ext cx="1734207" cy="457200"/>
          </a:xfrm>
        </p:spPr>
        <p:txBody>
          <a:bodyPr/>
          <a:lstStyle>
            <a:lvl1pPr algn="l">
              <a:defRPr/>
            </a:lvl1pPr>
          </a:lstStyle>
          <a:p>
            <a:fld id="{61A2E4C8-2960-4ADD-862C-4D9643CB15AC}" type="datetime1">
              <a:rPr lang="en-US" smtClean="0"/>
              <a:t>05-Nov-24</a:t>
            </a:fld>
            <a:endParaRPr lang="en-US" dirty="0"/>
          </a:p>
        </p:txBody>
      </p:sp>
      <p:sp>
        <p:nvSpPr>
          <p:cNvPr id="11" name="Footer Placeholder 10">
            <a:extLst>
              <a:ext uri="{FF2B5EF4-FFF2-40B4-BE49-F238E27FC236}">
                <a16:creationId xmlns:a16="http://schemas.microsoft.com/office/drawing/2014/main" id="{2EBBFF2E-AA66-4B76-9139-CB000B5A45D5}"/>
              </a:ext>
            </a:extLst>
          </p:cNvPr>
          <p:cNvSpPr>
            <a:spLocks noGrp="1"/>
          </p:cNvSpPr>
          <p:nvPr>
            <p:ph type="ftr" sz="quarter" idx="11"/>
          </p:nvPr>
        </p:nvSpPr>
        <p:spPr>
          <a:xfrm>
            <a:off x="638818" y="6309360"/>
            <a:ext cx="6993867" cy="457200"/>
          </a:xfrm>
        </p:spPr>
        <p:txBody>
          <a:bodyPr/>
          <a:lstStyle/>
          <a:p>
            <a:endParaRPr lang="en-US" dirty="0"/>
          </a:p>
        </p:txBody>
      </p:sp>
      <p:sp>
        <p:nvSpPr>
          <p:cNvPr id="12" name="Slide Number Placeholder 11">
            <a:extLst>
              <a:ext uri="{FF2B5EF4-FFF2-40B4-BE49-F238E27FC236}">
                <a16:creationId xmlns:a16="http://schemas.microsoft.com/office/drawing/2014/main" id="{A44F64C4-BF20-4F6B-B650-57C71C828A68}"/>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3122810511"/>
      </p:ext>
    </p:extLst>
  </p:cSld>
  <p:clrMapOvr>
    <a:masterClrMapping/>
  </p:clrMapOvr>
  <p:extLst>
    <p:ext uri="{DCECCB84-F9BA-43D5-87BE-67443E8EF086}">
      <p15:sldGuideLst xmlns:p15="http://schemas.microsoft.com/office/powerpoint/2012/main">
        <p15:guide id="1" pos="540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34996" y="640079"/>
            <a:ext cx="2714085" cy="2695903"/>
          </a:xfrm>
        </p:spPr>
        <p:txBody>
          <a:bodyPr anchor="b">
            <a:noAutofit/>
          </a:bodyPr>
          <a:lstStyle>
            <a:lvl1pPr algn="l">
              <a:lnSpc>
                <a:spcPct val="104000"/>
              </a:lnSpc>
              <a:defRPr sz="3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248592" cy="6857999"/>
          </a:xfrm>
          <a:solidFill>
            <a:schemeClr val="bg2">
              <a:lumMod val="9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hasCustomPrompt="1"/>
          </p:nvPr>
        </p:nvSpPr>
        <p:spPr>
          <a:xfrm>
            <a:off x="8834996" y="3429000"/>
            <a:ext cx="2714085" cy="2508026"/>
          </a:xfrm>
        </p:spPr>
        <p:txBody>
          <a:bodyPr anchor="t">
            <a:normAutofit/>
          </a:bodyPr>
          <a:lstStyle>
            <a:lvl1pPr marL="0" indent="0">
              <a:spcBef>
                <a:spcPts val="1400"/>
              </a:spcBef>
              <a:buNone/>
              <a:defRPr sz="1800" b="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9" name="Rectangle 8">
            <a:extLst>
              <a:ext uri="{FF2B5EF4-FFF2-40B4-BE49-F238E27FC236}">
                <a16:creationId xmlns:a16="http://schemas.microsoft.com/office/drawing/2014/main" id="{90949BC8-9ABF-49F6-851C-5DB0B86CA70D}"/>
              </a:ext>
            </a:extLst>
          </p:cNvPr>
          <p:cNvSpPr/>
          <p:nvPr/>
        </p:nvSpPr>
        <p:spPr>
          <a:xfrm rot="5400000">
            <a:off x="485159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a:extLst>
              <a:ext uri="{FF2B5EF4-FFF2-40B4-BE49-F238E27FC236}">
                <a16:creationId xmlns:a16="http://schemas.microsoft.com/office/drawing/2014/main" id="{04E1EE21-E3FA-4D43-B224-C664959637B0}"/>
              </a:ext>
            </a:extLst>
          </p:cNvPr>
          <p:cNvSpPr>
            <a:spLocks noGrp="1"/>
          </p:cNvSpPr>
          <p:nvPr>
            <p:ph type="dt" sz="half" idx="10"/>
          </p:nvPr>
        </p:nvSpPr>
        <p:spPr>
          <a:xfrm>
            <a:off x="8834997" y="6309360"/>
            <a:ext cx="1645920" cy="457200"/>
          </a:xfrm>
        </p:spPr>
        <p:txBody>
          <a:bodyPr/>
          <a:lstStyle/>
          <a:p>
            <a:fld id="{48BDEA15-09CD-4275-A8E0-385C965F48B0}" type="datetime1">
              <a:rPr lang="en-US" smtClean="0"/>
              <a:t>05-Nov-24</a:t>
            </a:fld>
            <a:endParaRPr lang="en-US" dirty="0"/>
          </a:p>
        </p:txBody>
      </p:sp>
      <p:sp>
        <p:nvSpPr>
          <p:cNvPr id="7" name="Slide Number Placeholder 6">
            <a:extLst>
              <a:ext uri="{FF2B5EF4-FFF2-40B4-BE49-F238E27FC236}">
                <a16:creationId xmlns:a16="http://schemas.microsoft.com/office/drawing/2014/main" id="{A32D7F83-8993-4ED4-9F02-663CC085052F}"/>
              </a:ext>
            </a:extLst>
          </p:cNvPr>
          <p:cNvSpPr>
            <a:spLocks noGrp="1"/>
          </p:cNvSpPr>
          <p:nvPr>
            <p:ph type="sldNum" sz="quarter" idx="12"/>
          </p:nvPr>
        </p:nvSpPr>
        <p:spPr/>
        <p:txBody>
          <a:bodyPr/>
          <a:lstStyle/>
          <a:p>
            <a:fld id="{FAEF9944-A4F6-4C59-AEBD-678D6480B8EA}" type="slidenum">
              <a:rPr lang="en-US" smtClean="0"/>
              <a:pPr/>
              <a:t>‹#›</a:t>
            </a:fld>
            <a:endParaRPr lang="en-US" dirty="0"/>
          </a:p>
        </p:txBody>
      </p:sp>
      <p:sp>
        <p:nvSpPr>
          <p:cNvPr id="6" name="Footer Placeholder 5">
            <a:extLst>
              <a:ext uri="{FF2B5EF4-FFF2-40B4-BE49-F238E27FC236}">
                <a16:creationId xmlns:a16="http://schemas.microsoft.com/office/drawing/2014/main" id="{8E3678B7-E511-4CE1-BEE5-89E959B9BFD6}"/>
              </a:ext>
            </a:extLst>
          </p:cNvPr>
          <p:cNvSpPr>
            <a:spLocks noGrp="1"/>
          </p:cNvSpPr>
          <p:nvPr>
            <p:ph type="ftr" sz="quarter" idx="11"/>
          </p:nvPr>
        </p:nvSpPr>
        <p:spPr>
          <a:xfrm>
            <a:off x="640080" y="6309360"/>
            <a:ext cx="4946592" cy="457200"/>
          </a:xfrm>
        </p:spPr>
        <p:txBody>
          <a:bodyPr/>
          <a:lstStyle>
            <a:lvl1pPr>
              <a:defRPr>
                <a:solidFill>
                  <a:srgbClr val="FFFFFF"/>
                </a:solidFill>
                <a:effectLst>
                  <a:outerShdw blurRad="50800" dist="38100" dir="2700000" algn="tl" rotWithShape="0">
                    <a:prstClr val="black">
                      <a:alpha val="43000"/>
                    </a:prstClr>
                  </a:outerShdw>
                </a:effectLst>
              </a:defRPr>
            </a:lvl1pPr>
          </a:lstStyle>
          <a:p>
            <a:endParaRPr lang="en-US" dirty="0"/>
          </a:p>
        </p:txBody>
      </p:sp>
    </p:spTree>
    <p:extLst>
      <p:ext uri="{BB962C8B-B14F-4D97-AF65-F5344CB8AC3E}">
        <p14:creationId xmlns:p14="http://schemas.microsoft.com/office/powerpoint/2010/main" val="9499665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41BC61-5547-4A60-8DA1-6699760D9972}" type="datetime1">
              <a:rPr lang="en-US" smtClean="0"/>
              <a:t>05-Nov-24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dirty="0"/>
              <a:t>‹#›</a:t>
            </a:fld>
            <a:endParaRPr lang="en-US" dirty="0"/>
          </a:p>
        </p:txBody>
      </p:sp>
    </p:spTree>
    <p:extLst>
      <p:ext uri="{BB962C8B-B14F-4D97-AF65-F5344CB8AC3E}">
        <p14:creationId xmlns:p14="http://schemas.microsoft.com/office/powerpoint/2010/main" val="1545925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965" y="507037"/>
            <a:ext cx="1571626" cy="533993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33700" y="524373"/>
            <a:ext cx="5959577" cy="532259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9277965" y="6296615"/>
            <a:ext cx="2505996" cy="365125"/>
          </a:xfrm>
        </p:spPr>
        <p:txBody>
          <a:bodyPr/>
          <a:lstStyle/>
          <a:p>
            <a:fld id="{24B9D1C6-60D0-4CD1-8F31-F912522EB041}" type="datetime1">
              <a:rPr lang="en-US" smtClean="0"/>
              <a:t>05-Nov-24</a:t>
            </a:fld>
            <a:endParaRPr lang="en-US" dirty="0"/>
          </a:p>
        </p:txBody>
      </p:sp>
      <p:sp>
        <p:nvSpPr>
          <p:cNvPr id="5" name="Footer Placeholder 4"/>
          <p:cNvSpPr>
            <a:spLocks noGrp="1"/>
          </p:cNvSpPr>
          <p:nvPr>
            <p:ph type="ftr" sz="quarter" idx="11"/>
          </p:nvPr>
        </p:nvSpPr>
        <p:spPr>
          <a:xfrm>
            <a:off x="2933699" y="6296615"/>
            <a:ext cx="5959577" cy="365125"/>
          </a:xfrm>
        </p:spPr>
        <p:txBody>
          <a:bodyPr/>
          <a:lstStyle/>
          <a:p>
            <a:endParaRPr lang="en-US" dirty="0"/>
          </a:p>
        </p:txBody>
      </p:sp>
      <p:sp>
        <p:nvSpPr>
          <p:cNvPr id="6" name="Slide Number Placeholder 5"/>
          <p:cNvSpPr>
            <a:spLocks noGrp="1"/>
          </p:cNvSpPr>
          <p:nvPr>
            <p:ph type="sldNum" sz="quarter" idx="12"/>
          </p:nvPr>
        </p:nvSpPr>
        <p:spPr>
          <a:xfrm rot="5400000">
            <a:off x="8734643" y="2853201"/>
            <a:ext cx="5383267" cy="604269"/>
          </a:xfrm>
        </p:spPr>
        <p:txBody>
          <a:bodyPr/>
          <a:lstStyle>
            <a:lvl1pPr algn="l">
              <a:defRPr/>
            </a:lvl1pPr>
          </a:lstStyle>
          <a:p>
            <a:fld id="{FAEF9944-A4F6-4C59-AEBD-678D6480B8EA}" type="slidenum">
              <a:rPr lang="en-US" dirty="0"/>
              <a:pPr/>
              <a:t>‹#›</a:t>
            </a:fld>
            <a:endParaRPr lang="en-US" dirty="0"/>
          </a:p>
        </p:txBody>
      </p:sp>
      <p:cxnSp>
        <p:nvCxnSpPr>
          <p:cNvPr id="7" name="Straight Connector 6" title="Rule Line">
            <a:extLst>
              <a:ext uri="{FF2B5EF4-FFF2-40B4-BE49-F238E27FC236}">
                <a16:creationId xmlns:a16="http://schemas.microsoft.com/office/drawing/2014/main" id="{A1005B08-D2D4-455C-AA62-1200E43E7AF9}"/>
              </a:ext>
            </a:extLst>
          </p:cNvPr>
          <p:cNvCxnSpPr/>
          <p:nvPr/>
        </p:nvCxnSpPr>
        <p:spPr>
          <a:xfrm>
            <a:off x="9111582" y="571502"/>
            <a:ext cx="0" cy="5275467"/>
          </a:xfrm>
          <a:prstGeom prst="line">
            <a:avLst/>
          </a:prstGeom>
          <a:ln w="381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96190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786F82F-1B47-46ED-8EAE-53EF71E59E9A}"/>
              </a:ext>
            </a:extLst>
          </p:cNvPr>
          <p:cNvSpPr/>
          <p:nvPr/>
        </p:nvSpPr>
        <p:spPr>
          <a:xfrm>
            <a:off x="4718302" y="0"/>
            <a:ext cx="7473698"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42918" y="705113"/>
            <a:ext cx="3411973" cy="5197498"/>
          </a:xfrm>
          <a:prstGeom prst="rect">
            <a:avLst/>
          </a:prstGeom>
        </p:spPr>
        <p:txBody>
          <a:bodyPr vert="horz" lIns="109728" tIns="109728" rIns="109728" bIns="9144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76671" y="705113"/>
            <a:ext cx="6172412" cy="5197497"/>
          </a:xfrm>
          <a:prstGeom prst="rect">
            <a:avLst/>
          </a:prstGeom>
        </p:spPr>
        <p:txBody>
          <a:bodyPr vert="horz" lIns="109728" tIns="109728" rIns="109728" bIns="9144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2917" y="6309360"/>
            <a:ext cx="3411973" cy="457200"/>
          </a:xfrm>
          <a:prstGeom prst="rect">
            <a:avLst/>
          </a:prstGeom>
        </p:spPr>
        <p:txBody>
          <a:bodyPr vert="horz" lIns="109728" tIns="109728" rIns="109728" bIns="91440" rtlCol="0" anchor="ctr"/>
          <a:lstStyle>
            <a:lvl1pPr algn="l">
              <a:defRPr sz="1200" spc="150" baseline="0">
                <a:solidFill>
                  <a:schemeClr val="tx1">
                    <a:lumMod val="75000"/>
                    <a:lumOff val="25000"/>
                  </a:schemeClr>
                </a:solidFill>
                <a:latin typeface="+mj-lt"/>
              </a:defRPr>
            </a:lvl1pPr>
          </a:lstStyle>
          <a:p>
            <a:fld id="{4AF8082C-0922-4249-A612-B415F5231620}" type="datetime1">
              <a:rPr lang="en-US" smtClean="0"/>
              <a:t>05-Nov-24</a:t>
            </a:fld>
            <a:endParaRPr lang="en-US" dirty="0"/>
          </a:p>
        </p:txBody>
      </p:sp>
      <p:sp>
        <p:nvSpPr>
          <p:cNvPr id="5" name="Footer Placeholder 4"/>
          <p:cNvSpPr>
            <a:spLocks noGrp="1"/>
          </p:cNvSpPr>
          <p:nvPr>
            <p:ph type="ftr" sz="quarter" idx="3"/>
          </p:nvPr>
        </p:nvSpPr>
        <p:spPr>
          <a:xfrm>
            <a:off x="5376670" y="6309360"/>
            <a:ext cx="4946592" cy="457200"/>
          </a:xfrm>
          <a:prstGeom prst="rect">
            <a:avLst/>
          </a:prstGeom>
        </p:spPr>
        <p:txBody>
          <a:bodyPr vert="horz" lIns="109728" tIns="109728" rIns="109728" bIns="91440" rtlCol="0" anchor="ctr"/>
          <a:lstStyle>
            <a:lvl1pPr algn="l">
              <a:defRPr sz="1200" spc="150" baseline="0">
                <a:solidFill>
                  <a:schemeClr val="tx1">
                    <a:lumMod val="75000"/>
                    <a:lumOff val="25000"/>
                  </a:schemeClr>
                </a:solidFill>
                <a:latin typeface="+mj-lt"/>
              </a:defRPr>
            </a:lvl1pPr>
          </a:lstStyle>
          <a:p>
            <a:endParaRPr lang="en-US" dirty="0"/>
          </a:p>
        </p:txBody>
      </p:sp>
      <p:sp>
        <p:nvSpPr>
          <p:cNvPr id="6" name="Slide Number Placeholder 5"/>
          <p:cNvSpPr>
            <a:spLocks noGrp="1"/>
          </p:cNvSpPr>
          <p:nvPr>
            <p:ph type="sldNum" sz="quarter" idx="4"/>
          </p:nvPr>
        </p:nvSpPr>
        <p:spPr>
          <a:xfrm>
            <a:off x="10569202" y="6309360"/>
            <a:ext cx="979879" cy="457200"/>
          </a:xfrm>
          <a:prstGeom prst="rect">
            <a:avLst/>
          </a:prstGeom>
        </p:spPr>
        <p:txBody>
          <a:bodyPr vert="horz" lIns="109728" tIns="109728" rIns="109728" bIns="91440" rtlCol="0" anchor="b"/>
          <a:lstStyle>
            <a:lvl1pPr algn="r">
              <a:defRPr sz="1600" b="1" spc="150" baseline="0">
                <a:solidFill>
                  <a:schemeClr val="tx1">
                    <a:lumMod val="75000"/>
                    <a:lumOff val="25000"/>
                  </a:schemeClr>
                </a:solidFill>
                <a:latin typeface="+mj-lt"/>
              </a:defRPr>
            </a:lvl1pPr>
          </a:lstStyle>
          <a:p>
            <a:fld id="{FAEF9944-A4F6-4C59-AEBD-678D6480B8EA}" type="slidenum">
              <a:rPr lang="en-US" smtClean="0"/>
              <a:pPr/>
              <a:t>‹#›</a:t>
            </a:fld>
            <a:endParaRPr lang="en-US" dirty="0"/>
          </a:p>
        </p:txBody>
      </p:sp>
      <p:sp>
        <p:nvSpPr>
          <p:cNvPr id="21" name="Rectangle 20">
            <a:extLst>
              <a:ext uri="{FF2B5EF4-FFF2-40B4-BE49-F238E27FC236}">
                <a16:creationId xmlns:a16="http://schemas.microsoft.com/office/drawing/2014/main" id="{EF1BAF6F-6275-4646-9C59-331B29B9550F}"/>
              </a:ext>
            </a:extLst>
          </p:cNvPr>
          <p:cNvSpPr/>
          <p:nvPr/>
        </p:nvSpPr>
        <p:spPr>
          <a:xfrm rot="5400000">
            <a:off x="1257298"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0399493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150000"/>
        </a:lnSpc>
        <a:spcBef>
          <a:spcPct val="0"/>
        </a:spcBef>
        <a:buNone/>
        <a:defRPr sz="3600" b="1" kern="1200" spc="150" baseline="0">
          <a:solidFill>
            <a:schemeClr val="tx1">
              <a:lumMod val="75000"/>
              <a:lumOff val="25000"/>
            </a:schemeClr>
          </a:solidFill>
          <a:latin typeface="+mj-lt"/>
          <a:ea typeface="+mj-ea"/>
          <a:cs typeface="+mj-cs"/>
        </a:defRPr>
      </a:lvl1pPr>
    </p:titleStyle>
    <p:body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848">
          <p15:clr>
            <a:srgbClr val="F26B43"/>
          </p15:clr>
        </p15:guide>
        <p15:guide id="2" orient="horz" pos="3960">
          <p15:clr>
            <a:srgbClr val="F26B43"/>
          </p15:clr>
        </p15:guide>
        <p15:guide id="3" orient="horz" pos="1536">
          <p15:clr>
            <a:srgbClr val="F26B43"/>
          </p15:clr>
        </p15:guide>
        <p15:guide id="4" orient="horz" pos="3840">
          <p15:clr>
            <a:srgbClr val="F26B43"/>
          </p15:clr>
        </p15:guide>
        <p15:guide id="5" pos="4416">
          <p15:clr>
            <a:srgbClr val="F26B43"/>
          </p15:clr>
        </p15:guide>
        <p15:guide id="6" pos="4800">
          <p15:clr>
            <a:srgbClr val="F26B43"/>
          </p15:clr>
        </p15:guide>
        <p15:guide id="7" orient="horz" pos="360">
          <p15:clr>
            <a:srgbClr val="F26B43"/>
          </p15:clr>
        </p15:guide>
        <p15:guide id="8" pos="7368">
          <p15:clr>
            <a:srgbClr val="F26B43"/>
          </p15:clr>
        </p15:guide>
        <p15:guide id="9" pos="2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5" Type="http://schemas.openxmlformats.org/officeDocument/2006/relationships/image" Target="../media/image9.jpeg"/><Relationship Id="rId4" Type="http://schemas.openxmlformats.org/officeDocument/2006/relationships/image" Target="../media/image8.tmp"/></Relationships>
</file>

<file path=ppt/slides/_rels/slide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1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iopscience.iop.org/volume/1755-1315/1141" TargetMode="External"/><Relationship Id="rId7" Type="http://schemas.openxmlformats.org/officeDocument/2006/relationships/hyperlink" Target="https://ieeexplore.ieee.org/author/37285430200" TargetMode="External"/><Relationship Id="rId2" Type="http://schemas.openxmlformats.org/officeDocument/2006/relationships/hyperlink" Target="https://iopscience.iop.org/journal/1755-1315" TargetMode="External"/><Relationship Id="rId1" Type="http://schemas.openxmlformats.org/officeDocument/2006/relationships/slideLayout" Target="../slideLayouts/slideLayout2.xml"/><Relationship Id="rId6" Type="http://schemas.openxmlformats.org/officeDocument/2006/relationships/hyperlink" Target="https://ieeexplore.ieee.org/author/37086849849" TargetMode="External"/><Relationship Id="rId5" Type="http://schemas.openxmlformats.org/officeDocument/2006/relationships/hyperlink" Target="http://dx.doi.org/10.1109/UPCON56432.2022.9986433" TargetMode="External"/><Relationship Id="rId4" Type="http://schemas.openxmlformats.org/officeDocument/2006/relationships/hyperlink" Target="https://iopscience.iop.org/issue/1755-1315/1141/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3D11E-7CBB-4115-B4F7-40C0B5DCF00D}"/>
              </a:ext>
            </a:extLst>
          </p:cNvPr>
          <p:cNvSpPr txBox="1">
            <a:spLocks/>
          </p:cNvSpPr>
          <p:nvPr/>
        </p:nvSpPr>
        <p:spPr>
          <a:xfrm>
            <a:off x="2205115" y="188641"/>
            <a:ext cx="7772400" cy="1368152"/>
          </a:xfrm>
          <a:prstGeom prst="rect">
            <a:avLst/>
          </a:prstGeom>
        </p:spPr>
        <p:txBody>
          <a:bodyPr>
            <a:normAutofit fontScale="52500" lnSpcReduction="20000"/>
          </a:bodyPr>
          <a:lstStyle>
            <a:lvl1pPr algn="l" defTabSz="914400" rtl="0" eaLnBrk="1" latinLnBrk="0" hangingPunct="1">
              <a:lnSpc>
                <a:spcPct val="150000"/>
              </a:lnSpc>
              <a:spcBef>
                <a:spcPct val="0"/>
              </a:spcBef>
              <a:buNone/>
              <a:defRPr sz="3600" b="1" kern="1200" spc="150" baseline="0">
                <a:solidFill>
                  <a:schemeClr val="tx1">
                    <a:lumMod val="75000"/>
                    <a:lumOff val="25000"/>
                  </a:schemeClr>
                </a:solidFill>
                <a:latin typeface="+mj-lt"/>
                <a:ea typeface="+mj-ea"/>
                <a:cs typeface="+mj-cs"/>
              </a:defRPr>
            </a:lvl1pPr>
          </a:lstStyle>
          <a:p>
            <a:pPr algn="ctr"/>
            <a:r>
              <a:rPr lang="en-IN" sz="2000"/>
              <a:t>(DR. BABASAHEB AMBEDKAR TECHNOLOGICAL UNIVERSITY, LONERE)</a:t>
            </a:r>
            <a:br>
              <a:rPr lang="en-IN" sz="2000"/>
            </a:br>
            <a:r>
              <a:rPr lang="en-IN" sz="2000"/>
              <a:t> RAJIV GANDHI COLLEGE OF ENGINEERING, RESEARCH  TECHNOLOGY, CHANDRAPUR </a:t>
            </a:r>
            <a:br>
              <a:rPr lang="en-IN" sz="2000"/>
            </a:br>
            <a:r>
              <a:rPr lang="en-IN" sz="2000"/>
              <a:t>Department of </a:t>
            </a:r>
            <a:r>
              <a:rPr lang="en-IN" sz="2200"/>
              <a:t>Computer Science and Engineering</a:t>
            </a:r>
            <a:br>
              <a:rPr lang="en-IN" sz="2000"/>
            </a:br>
            <a:br>
              <a:rPr lang="en-IN" sz="1600"/>
            </a:br>
            <a:r>
              <a:rPr lang="en-IN" sz="1600"/>
              <a:t>(2023-24)</a:t>
            </a:r>
            <a:endParaRPr lang="en-IN" sz="1600" dirty="0"/>
          </a:p>
        </p:txBody>
      </p:sp>
      <p:sp>
        <p:nvSpPr>
          <p:cNvPr id="3" name="Subtitle 2">
            <a:extLst>
              <a:ext uri="{FF2B5EF4-FFF2-40B4-BE49-F238E27FC236}">
                <a16:creationId xmlns:a16="http://schemas.microsoft.com/office/drawing/2014/main" id="{FDB836D8-72E8-4AF7-82EE-69BCEEEE378A}"/>
              </a:ext>
            </a:extLst>
          </p:cNvPr>
          <p:cNvSpPr txBox="1">
            <a:spLocks/>
          </p:cNvSpPr>
          <p:nvPr/>
        </p:nvSpPr>
        <p:spPr>
          <a:xfrm>
            <a:off x="2058867" y="3140968"/>
            <a:ext cx="8064896" cy="3096344"/>
          </a:xfrm>
          <a:prstGeom prst="rect">
            <a:avLst/>
          </a:prstGeom>
        </p:spPr>
        <p:txBody>
          <a:bodyPr>
            <a:normAutofit fontScale="62500" lnSpcReduction="20000"/>
          </a:bodyPr>
          <a:lst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algn="ctr"/>
            <a:r>
              <a:rPr lang="en-US" sz="2400" dirty="0">
                <a:solidFill>
                  <a:schemeClr val="tx1"/>
                </a:solidFill>
              </a:rPr>
              <a:t>A Seminar Presentation </a:t>
            </a:r>
          </a:p>
          <a:p>
            <a:pPr algn="ctr"/>
            <a:r>
              <a:rPr lang="en-US" sz="2400" dirty="0">
                <a:solidFill>
                  <a:schemeClr val="tx1"/>
                </a:solidFill>
              </a:rPr>
              <a:t>On</a:t>
            </a:r>
          </a:p>
          <a:p>
            <a:pPr algn="ctr"/>
            <a:r>
              <a:rPr lang="en-US" sz="2400" cap="small" dirty="0">
                <a:solidFill>
                  <a:schemeClr val="tx1"/>
                </a:solidFill>
              </a:rPr>
              <a:t>“Insert Seminar TITILE”</a:t>
            </a:r>
          </a:p>
          <a:p>
            <a:pPr algn="ctr"/>
            <a:r>
              <a:rPr lang="en-US" sz="2100" dirty="0">
                <a:solidFill>
                  <a:schemeClr val="tx1"/>
                </a:solidFill>
              </a:rPr>
              <a:t>SEMISTER- III SECOND YEAR </a:t>
            </a:r>
            <a:endParaRPr lang="en-IN" sz="2100" dirty="0">
              <a:solidFill>
                <a:schemeClr val="tx1"/>
              </a:solidFill>
            </a:endParaRPr>
          </a:p>
          <a:p>
            <a:pPr algn="ctr"/>
            <a:r>
              <a:rPr lang="en-US" sz="2400" dirty="0">
                <a:solidFill>
                  <a:schemeClr val="tx1"/>
                </a:solidFill>
              </a:rPr>
              <a:t>Seminar –I</a:t>
            </a:r>
          </a:p>
          <a:p>
            <a:pPr algn="ctr"/>
            <a:endParaRPr lang="en-US" sz="2400" dirty="0">
              <a:solidFill>
                <a:schemeClr val="tx1"/>
              </a:solidFill>
            </a:endParaRPr>
          </a:p>
          <a:p>
            <a:r>
              <a:rPr lang="en-IN" sz="2400" dirty="0">
                <a:solidFill>
                  <a:schemeClr val="tx1"/>
                </a:solidFill>
              </a:rPr>
              <a:t>       Guided By </a:t>
            </a:r>
          </a:p>
          <a:p>
            <a:r>
              <a:rPr lang="en-US" sz="2400" dirty="0">
                <a:solidFill>
                  <a:schemeClr val="tx1"/>
                </a:solidFill>
              </a:rPr>
              <a:t>     Prof Dr. </a:t>
            </a:r>
            <a:r>
              <a:rPr lang="en-US" sz="2400" dirty="0" err="1">
                <a:solidFill>
                  <a:schemeClr val="tx1"/>
                </a:solidFill>
              </a:rPr>
              <a:t>Dhanajay</a:t>
            </a:r>
            <a:r>
              <a:rPr lang="en-US" sz="2400" dirty="0">
                <a:solidFill>
                  <a:schemeClr val="tx1"/>
                </a:solidFill>
              </a:rPr>
              <a:t> </a:t>
            </a:r>
            <a:r>
              <a:rPr lang="en-US" sz="2400" dirty="0" err="1">
                <a:solidFill>
                  <a:schemeClr val="tx1"/>
                </a:solidFill>
              </a:rPr>
              <a:t>Dumbere</a:t>
            </a:r>
            <a:r>
              <a:rPr lang="en-US" sz="2400" dirty="0">
                <a:solidFill>
                  <a:schemeClr val="tx1"/>
                </a:solidFill>
              </a:rPr>
              <a:t> </a:t>
            </a:r>
          </a:p>
          <a:p>
            <a:pPr algn="ctr"/>
            <a:endParaRPr lang="en-IN" sz="2400" dirty="0">
              <a:solidFill>
                <a:schemeClr val="tx1"/>
              </a:solidFill>
            </a:endParaRPr>
          </a:p>
        </p:txBody>
      </p:sp>
      <p:pic>
        <p:nvPicPr>
          <p:cNvPr id="4" name="Picture 3" descr="C:\Users\home\Desktop\Rcert_logo (1).jpg">
            <a:extLst>
              <a:ext uri="{FF2B5EF4-FFF2-40B4-BE49-F238E27FC236}">
                <a16:creationId xmlns:a16="http://schemas.microsoft.com/office/drawing/2014/main" id="{95820070-7B4D-468A-BB5B-CBFB2116581F}"/>
              </a:ext>
            </a:extLst>
          </p:cNvPr>
          <p:cNvPicPr/>
          <p:nvPr/>
        </p:nvPicPr>
        <p:blipFill>
          <a:blip r:embed="rId2" cstate="print"/>
          <a:srcRect/>
          <a:stretch>
            <a:fillRect/>
          </a:stretch>
        </p:blipFill>
        <p:spPr bwMode="auto">
          <a:xfrm>
            <a:off x="5155211" y="1772816"/>
            <a:ext cx="1701800" cy="1089025"/>
          </a:xfrm>
          <a:prstGeom prst="rect">
            <a:avLst/>
          </a:prstGeom>
          <a:noFill/>
          <a:ln w="9525">
            <a:noFill/>
            <a:miter lim="800000"/>
            <a:headEnd/>
            <a:tailEnd/>
          </a:ln>
        </p:spPr>
      </p:pic>
      <p:sp>
        <p:nvSpPr>
          <p:cNvPr id="5" name="TextBox 4">
            <a:extLst>
              <a:ext uri="{FF2B5EF4-FFF2-40B4-BE49-F238E27FC236}">
                <a16:creationId xmlns:a16="http://schemas.microsoft.com/office/drawing/2014/main" id="{EE1883BD-E81A-4A89-B4C6-E8B0343720AD}"/>
              </a:ext>
            </a:extLst>
          </p:cNvPr>
          <p:cNvSpPr txBox="1"/>
          <p:nvPr/>
        </p:nvSpPr>
        <p:spPr>
          <a:xfrm>
            <a:off x="7201551" y="5007366"/>
            <a:ext cx="3194474" cy="1661993"/>
          </a:xfrm>
          <a:prstGeom prst="rect">
            <a:avLst/>
          </a:prstGeom>
          <a:noFill/>
        </p:spPr>
        <p:txBody>
          <a:bodyPr wrap="square" rtlCol="0">
            <a:spAutoFit/>
          </a:bodyPr>
          <a:lstStyle/>
          <a:p>
            <a:pPr algn="ctr"/>
            <a:r>
              <a:rPr lang="en-IN" sz="1600" b="1" dirty="0">
                <a:solidFill>
                  <a:schemeClr val="tx1"/>
                </a:solidFill>
              </a:rPr>
              <a:t>Submitted By</a:t>
            </a:r>
          </a:p>
          <a:p>
            <a:pPr algn="ctr"/>
            <a:r>
              <a:rPr lang="en-US" sz="1600" dirty="0" err="1"/>
              <a:t>Ayush</a:t>
            </a:r>
            <a:r>
              <a:rPr lang="en-US" sz="1600" dirty="0"/>
              <a:t> </a:t>
            </a:r>
            <a:r>
              <a:rPr lang="en-US" sz="1600" dirty="0" err="1"/>
              <a:t>kakde</a:t>
            </a:r>
            <a:r>
              <a:rPr lang="en-US" sz="1600" dirty="0"/>
              <a:t> (CSEA530)</a:t>
            </a:r>
          </a:p>
          <a:p>
            <a:pPr algn="ctr"/>
            <a:r>
              <a:rPr lang="en-US" sz="1600" dirty="0"/>
              <a:t>Vikram Ade (CSEA529)</a:t>
            </a:r>
          </a:p>
          <a:p>
            <a:pPr algn="ctr"/>
            <a:r>
              <a:rPr lang="en-US" sz="1600" dirty="0" err="1"/>
              <a:t>Ayush</a:t>
            </a:r>
            <a:r>
              <a:rPr lang="en-US" sz="1600" dirty="0"/>
              <a:t> </a:t>
            </a:r>
            <a:r>
              <a:rPr lang="en-US" sz="1600" dirty="0" err="1"/>
              <a:t>Nagpure</a:t>
            </a:r>
            <a:r>
              <a:rPr lang="en-US" sz="1600" dirty="0"/>
              <a:t> (CSEA569)</a:t>
            </a:r>
          </a:p>
          <a:p>
            <a:pPr algn="ctr"/>
            <a:r>
              <a:rPr lang="en-US" sz="1600" dirty="0" err="1"/>
              <a:t>Priyanshu</a:t>
            </a:r>
            <a:r>
              <a:rPr lang="en-US" sz="1600" dirty="0"/>
              <a:t> </a:t>
            </a:r>
            <a:r>
              <a:rPr lang="en-US" sz="1600" dirty="0" err="1"/>
              <a:t>Gedam</a:t>
            </a:r>
            <a:r>
              <a:rPr lang="en-US" sz="1600" dirty="0"/>
              <a:t> (CSEA555)</a:t>
            </a:r>
          </a:p>
          <a:p>
            <a:pPr algn="ctr"/>
            <a:endParaRPr lang="en-US" dirty="0"/>
          </a:p>
        </p:txBody>
      </p:sp>
    </p:spTree>
    <p:extLst>
      <p:ext uri="{BB962C8B-B14F-4D97-AF65-F5344CB8AC3E}">
        <p14:creationId xmlns:p14="http://schemas.microsoft.com/office/powerpoint/2010/main" val="1127484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A164D6B-6878-4B9F-A2D0-985D39B17B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362F176A-9349-4CD7-8042-59C0200C8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50904" y="-4078"/>
            <a:ext cx="4641096" cy="105654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FF9EDAE6-5249-2557-2E31-B3B4F765EB0C}"/>
              </a:ext>
            </a:extLst>
          </p:cNvPr>
          <p:cNvPicPr>
            <a:picLocks noChangeAspect="1"/>
          </p:cNvPicPr>
          <p:nvPr/>
        </p:nvPicPr>
        <p:blipFill>
          <a:blip r:embed="rId2"/>
          <a:srcRect l="2798" r="852" b="3"/>
          <a:stretch/>
        </p:blipFill>
        <p:spPr>
          <a:xfrm>
            <a:off x="20" y="1074544"/>
            <a:ext cx="7573364" cy="5069861"/>
          </a:xfrm>
          <a:prstGeom prst="rect">
            <a:avLst/>
          </a:prstGeom>
        </p:spPr>
      </p:pic>
      <p:sp>
        <p:nvSpPr>
          <p:cNvPr id="13" name="Rectangle 12">
            <a:extLst>
              <a:ext uri="{FF2B5EF4-FFF2-40B4-BE49-F238E27FC236}">
                <a16:creationId xmlns:a16="http://schemas.microsoft.com/office/drawing/2014/main" id="{4E9A171F-91A7-42F8-B25C-E38B244E7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1031500"/>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4738AB-B6BE-4867-889A-52CE4AC8D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5467" y="1095508"/>
            <a:ext cx="4606533" cy="501689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8011397" y="2269457"/>
            <a:ext cx="3754671" cy="2880260"/>
          </a:xfrm>
        </p:spPr>
        <p:txBody>
          <a:bodyPr anchor="b">
            <a:normAutofit/>
          </a:bodyPr>
          <a:lstStyle/>
          <a:p>
            <a:r>
              <a:rPr lang="en-US" sz="3300" dirty="0">
                <a:solidFill>
                  <a:schemeClr val="bg1"/>
                </a:solidFill>
              </a:rPr>
              <a:t>Smart</a:t>
            </a:r>
            <a:r>
              <a:rPr lang="en-IN" sz="3300" dirty="0">
                <a:solidFill>
                  <a:schemeClr val="bg1"/>
                </a:solidFill>
              </a:rPr>
              <a:t>-SOLAR</a:t>
            </a:r>
            <a:r>
              <a:rPr lang="en-US" sz="3300" dirty="0">
                <a:solidFill>
                  <a:schemeClr val="bg1"/>
                </a:solidFill>
              </a:rPr>
              <a:t> energy harvesting system</a:t>
            </a:r>
          </a:p>
        </p:txBody>
      </p:sp>
      <p:sp>
        <p:nvSpPr>
          <p:cNvPr id="17" name="Rectangle 16">
            <a:extLst>
              <a:ext uri="{FF2B5EF4-FFF2-40B4-BE49-F238E27FC236}">
                <a16:creationId xmlns:a16="http://schemas.microsoft.com/office/drawing/2014/main" id="{57851D67-7085-40E2-B146-F91433A28E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144405"/>
            <a:ext cx="7534656" cy="734559"/>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C969C2C-E7E3-4052-87D4-61E733EC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5" y="6112401"/>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C60369F-A41B-4D6E-8990-30E2715C57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21459"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D85C744-3E6B-F0F5-E49D-D3D85DC9C733}"/>
              </a:ext>
            </a:extLst>
          </p:cNvPr>
          <p:cNvSpPr txBox="1"/>
          <p:nvPr/>
        </p:nvSpPr>
        <p:spPr>
          <a:xfrm>
            <a:off x="188572" y="2631418"/>
            <a:ext cx="7136152" cy="2943711"/>
          </a:xfrm>
          <a:prstGeom prst="rect">
            <a:avLst/>
          </a:prstGeom>
          <a:noFill/>
        </p:spPr>
        <p:txBody>
          <a:bodyPr wrap="square" rtlCol="0">
            <a:spAutoFit/>
          </a:bodyPr>
          <a:lstStyle/>
          <a:p>
            <a:pPr algn="l"/>
            <a:endParaRPr lang="en-US" dirty="0"/>
          </a:p>
        </p:txBody>
      </p:sp>
      <p:pic>
        <p:nvPicPr>
          <p:cNvPr id="5" name="Picture 4">
            <a:extLst>
              <a:ext uri="{FF2B5EF4-FFF2-40B4-BE49-F238E27FC236}">
                <a16:creationId xmlns:a16="http://schemas.microsoft.com/office/drawing/2014/main" id="{25DD721F-DBD4-150A-33F6-CDF4D5EC5A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05" y="1008093"/>
            <a:ext cx="7484236" cy="5168315"/>
          </a:xfrm>
          <a:prstGeom prst="rect">
            <a:avLst/>
          </a:prstGeom>
        </p:spPr>
      </p:pic>
    </p:spTree>
    <p:extLst>
      <p:ext uri="{BB962C8B-B14F-4D97-AF65-F5344CB8AC3E}">
        <p14:creationId xmlns:p14="http://schemas.microsoft.com/office/powerpoint/2010/main" val="38688666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2526924-84D3-45FB-A5FE-62D8FCBF5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C2A6256-1DD0-4E4B-A8B3-9A711B4DBE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8768" y="2130218"/>
            <a:ext cx="11153231" cy="472778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1760540-185E-4652-BFD2-9B362EF3B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6641"/>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1535371" y="1044054"/>
            <a:ext cx="10013709" cy="1030360"/>
          </a:xfrm>
        </p:spPr>
        <p:txBody>
          <a:bodyPr>
            <a:normAutofit/>
          </a:bodyPr>
          <a:lstStyle/>
          <a:p>
            <a:r>
              <a:rPr lang="en-US">
                <a:solidFill>
                  <a:schemeClr val="bg1"/>
                </a:solidFill>
              </a:rPr>
              <a:t>Abstract with keyword</a:t>
            </a:r>
          </a:p>
        </p:txBody>
      </p:sp>
      <p:sp>
        <p:nvSpPr>
          <p:cNvPr id="15" name="Rectangle 14">
            <a:extLst>
              <a:ext uri="{FF2B5EF4-FFF2-40B4-BE49-F238E27FC236}">
                <a16:creationId xmlns:a16="http://schemas.microsoft.com/office/drawing/2014/main" id="{729789F4-85C1-41A0-83EB-992E22210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962423"/>
            <a:ext cx="1006766" cy="12161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D9D367D-6DD2-4A7C-8918-0DCAC29755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51E10F7-4A52-CB8C-B8D0-C4A9909CA0A5}"/>
              </a:ext>
            </a:extLst>
          </p:cNvPr>
          <p:cNvSpPr txBox="1"/>
          <p:nvPr/>
        </p:nvSpPr>
        <p:spPr>
          <a:xfrm>
            <a:off x="6889472" y="3224017"/>
            <a:ext cx="3855660" cy="1938992"/>
          </a:xfrm>
          <a:prstGeom prst="rect">
            <a:avLst/>
          </a:prstGeom>
          <a:noFill/>
        </p:spPr>
        <p:txBody>
          <a:bodyPr wrap="square" rtlCol="0">
            <a:spAutoFit/>
          </a:bodyPr>
          <a:lstStyle/>
          <a:p>
            <a:pPr algn="l"/>
            <a:r>
              <a:rPr lang="en-IN" sz="2400" b="1" dirty="0">
                <a:latin typeface="Calibri" panose="020F0502020204030204" pitchFamily="34" charset="0"/>
              </a:rPr>
              <a:t>2.Keyword</a:t>
            </a:r>
          </a:p>
          <a:p>
            <a:pPr algn="l"/>
            <a:r>
              <a:rPr lang="en-IN" sz="2400" dirty="0">
                <a:latin typeface="Calibri" panose="020F0502020204030204" pitchFamily="34" charset="0"/>
              </a:rPr>
              <a:t>Solar energy, IoT, renewable energy, energy harvesting, monitoring, optimization</a:t>
            </a:r>
          </a:p>
          <a:p>
            <a:pPr algn="l"/>
            <a:endParaRPr lang="en-US" sz="2400" dirty="0">
              <a:latin typeface="Calibri" panose="020F0502020204030204" pitchFamily="34" charset="0"/>
            </a:endParaRPr>
          </a:p>
        </p:txBody>
      </p:sp>
      <p:sp>
        <p:nvSpPr>
          <p:cNvPr id="6" name="Text 3">
            <a:extLst>
              <a:ext uri="{FF2B5EF4-FFF2-40B4-BE49-F238E27FC236}">
                <a16:creationId xmlns:a16="http://schemas.microsoft.com/office/drawing/2014/main" id="{B1EED314-AB5B-8E63-3038-591AB0CE7B14}"/>
              </a:ext>
            </a:extLst>
          </p:cNvPr>
          <p:cNvSpPr>
            <a:spLocks noGrp="1"/>
          </p:cNvSpPr>
          <p:nvPr>
            <p:ph idx="1"/>
          </p:nvPr>
        </p:nvSpPr>
        <p:spPr>
          <a:xfrm>
            <a:off x="1414862" y="3224017"/>
            <a:ext cx="6167437" cy="5101129"/>
          </a:xfrm>
          <a:prstGeom prst="rect">
            <a:avLst/>
          </a:prstGeom>
          <a:noFill/>
          <a:ln/>
        </p:spPr>
        <p:txBody>
          <a:bodyPr wrap="none" lIns="0" tIns="0" rIns="0" bIns="0" rtlCol="0" anchor="t"/>
          <a:lstStyle/>
          <a:p>
            <a:pPr marL="0" indent="0">
              <a:lnSpc>
                <a:spcPts val="2750"/>
              </a:lnSpc>
              <a:buNone/>
            </a:pPr>
            <a:r>
              <a:rPr lang="en-IN" sz="2200" dirty="0">
                <a:solidFill>
                  <a:srgbClr val="161613"/>
                </a:solidFill>
                <a:latin typeface="DM Sans Medium" pitchFamily="34" charset="0"/>
                <a:ea typeface="DM Sans Medium" pitchFamily="34" charset="-122"/>
                <a:cs typeface="DM Sans Medium" pitchFamily="34" charset="-120"/>
              </a:rPr>
              <a:t>1.</a:t>
            </a:r>
            <a:r>
              <a:rPr lang="en-US" sz="2200" dirty="0">
                <a:solidFill>
                  <a:srgbClr val="161613"/>
                </a:solidFill>
                <a:latin typeface="DM Sans Medium" pitchFamily="34" charset="0"/>
                <a:ea typeface="DM Sans Medium" pitchFamily="34" charset="-122"/>
                <a:cs typeface="DM Sans Medium" pitchFamily="34" charset="-120"/>
              </a:rPr>
              <a:t>Abstract</a:t>
            </a:r>
            <a:endParaRPr lang="en-US" sz="2200" dirty="0"/>
          </a:p>
        </p:txBody>
      </p:sp>
      <p:sp>
        <p:nvSpPr>
          <p:cNvPr id="5" name="Text 4">
            <a:extLst>
              <a:ext uri="{FF2B5EF4-FFF2-40B4-BE49-F238E27FC236}">
                <a16:creationId xmlns:a16="http://schemas.microsoft.com/office/drawing/2014/main" id="{3069860D-FB0E-7211-D412-148361CB7F31}"/>
              </a:ext>
            </a:extLst>
          </p:cNvPr>
          <p:cNvSpPr/>
          <p:nvPr/>
        </p:nvSpPr>
        <p:spPr>
          <a:xfrm>
            <a:off x="1446868" y="3724015"/>
            <a:ext cx="4724058" cy="1938993"/>
          </a:xfrm>
          <a:prstGeom prst="rect">
            <a:avLst/>
          </a:prstGeom>
          <a:noFill/>
          <a:ln/>
        </p:spPr>
        <p:txBody>
          <a:bodyPr wrap="square" lIns="0" tIns="0" rIns="0" bIns="0" rtlCol="0" anchor="t"/>
          <a:lstStyle/>
          <a:p>
            <a:pPr marL="0" indent="0">
              <a:lnSpc>
                <a:spcPts val="2850"/>
              </a:lnSpc>
              <a:buNone/>
            </a:pPr>
            <a:r>
              <a:rPr lang="en-US" sz="2400" dirty="0">
                <a:solidFill>
                  <a:srgbClr val="161613"/>
                </a:solidFill>
                <a:latin typeface="Calibri" panose="020F0502020204030204" pitchFamily="34" charset="0"/>
                <a:ea typeface="Inter" pitchFamily="34" charset="-122"/>
                <a:cs typeface="Inter" pitchFamily="34" charset="-120"/>
              </a:rPr>
              <a:t>This </a:t>
            </a:r>
            <a:r>
              <a:rPr lang="en-IN" sz="2400" dirty="0">
                <a:solidFill>
                  <a:srgbClr val="161613"/>
                </a:solidFill>
                <a:latin typeface="Calibri" panose="020F0502020204030204" pitchFamily="34" charset="0"/>
                <a:ea typeface="Inter" pitchFamily="34" charset="-122"/>
                <a:cs typeface="Inter" pitchFamily="34" charset="-120"/>
              </a:rPr>
              <a:t>presentation</a:t>
            </a:r>
            <a:r>
              <a:rPr lang="en-US" sz="2400" dirty="0">
                <a:solidFill>
                  <a:srgbClr val="161613"/>
                </a:solidFill>
                <a:latin typeface="Calibri" panose="020F0502020204030204" pitchFamily="34" charset="0"/>
                <a:ea typeface="Inter" pitchFamily="34" charset="-122"/>
                <a:cs typeface="Inter" pitchFamily="34" charset="-120"/>
              </a:rPr>
              <a:t> proposes a comprehensive IoT-based solar energy harvesting system to improve</a:t>
            </a:r>
            <a:r>
              <a:rPr lang="en-IN" sz="2400" dirty="0">
                <a:solidFill>
                  <a:srgbClr val="161613"/>
                </a:solidFill>
                <a:latin typeface="Calibri" panose="020F0502020204030204" pitchFamily="34" charset="0"/>
                <a:ea typeface="Inter" pitchFamily="34" charset="-122"/>
                <a:cs typeface="Inter" pitchFamily="34" charset="-120"/>
              </a:rPr>
              <a:t> </a:t>
            </a:r>
            <a:r>
              <a:rPr lang="en-US" sz="2400" dirty="0">
                <a:solidFill>
                  <a:srgbClr val="161613"/>
                </a:solidFill>
                <a:latin typeface="Calibri" panose="020F0502020204030204" pitchFamily="34" charset="0"/>
                <a:ea typeface="Inter" pitchFamily="34" charset="-122"/>
                <a:cs typeface="Inter" pitchFamily="34" charset="-120"/>
              </a:rPr>
              <a:t>efficiency, monitoring, and control of</a:t>
            </a:r>
            <a:r>
              <a:rPr lang="en-IN" sz="2400" dirty="0">
                <a:solidFill>
                  <a:srgbClr val="161613"/>
                </a:solidFill>
                <a:latin typeface="Calibri" panose="020F0502020204030204" pitchFamily="34" charset="0"/>
                <a:ea typeface="Inter" pitchFamily="34" charset="-122"/>
                <a:cs typeface="Inter" pitchFamily="34" charset="-120"/>
              </a:rPr>
              <a:t> </a:t>
            </a:r>
            <a:r>
              <a:rPr lang="en-US" sz="2400" dirty="0">
                <a:solidFill>
                  <a:srgbClr val="161613"/>
                </a:solidFill>
                <a:latin typeface="Calibri" panose="020F0502020204030204" pitchFamily="34" charset="0"/>
                <a:ea typeface="Inter" pitchFamily="34" charset="-122"/>
                <a:cs typeface="Inter" pitchFamily="34" charset="-120"/>
              </a:rPr>
              <a:t>renewable energy generation.</a:t>
            </a:r>
            <a:endParaRPr lang="en-US" sz="2400" dirty="0">
              <a:latin typeface="Calibri" panose="020F0502020204030204" pitchFamily="34" charset="0"/>
            </a:endParaRPr>
          </a:p>
        </p:txBody>
      </p:sp>
    </p:spTree>
    <p:extLst>
      <p:ext uri="{BB962C8B-B14F-4D97-AF65-F5344CB8AC3E}">
        <p14:creationId xmlns:p14="http://schemas.microsoft.com/office/powerpoint/2010/main" val="37787722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2526924-84D3-45FB-A5FE-62D8FCBF5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C2A6256-1DD0-4E4B-A8B3-9A711B4DBE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8768" y="2130218"/>
            <a:ext cx="11153231" cy="472778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1760540-185E-4652-BFD2-9B362EF3B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6641"/>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1535371" y="1044054"/>
            <a:ext cx="10013709" cy="1030360"/>
          </a:xfrm>
        </p:spPr>
        <p:txBody>
          <a:bodyPr>
            <a:normAutofit/>
          </a:bodyPr>
          <a:lstStyle/>
          <a:p>
            <a:r>
              <a:rPr lang="en-US">
                <a:solidFill>
                  <a:schemeClr val="bg1"/>
                </a:solidFill>
              </a:rPr>
              <a:t>Introduction</a:t>
            </a:r>
          </a:p>
        </p:txBody>
      </p:sp>
      <p:sp>
        <p:nvSpPr>
          <p:cNvPr id="15" name="Rectangle 14">
            <a:extLst>
              <a:ext uri="{FF2B5EF4-FFF2-40B4-BE49-F238E27FC236}">
                <a16:creationId xmlns:a16="http://schemas.microsoft.com/office/drawing/2014/main" id="{729789F4-85C1-41A0-83EB-992E22210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962423"/>
            <a:ext cx="1006766" cy="12161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D9D367D-6DD2-4A7C-8918-0DCAC29755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5">
            <a:extLst>
              <a:ext uri="{FF2B5EF4-FFF2-40B4-BE49-F238E27FC236}">
                <a16:creationId xmlns:a16="http://schemas.microsoft.com/office/drawing/2014/main" id="{23AB0F7A-18A2-30A5-80B5-C1371820A5BE}"/>
              </a:ext>
            </a:extLst>
          </p:cNvPr>
          <p:cNvSpPr>
            <a:spLocks noGrp="1"/>
          </p:cNvSpPr>
          <p:nvPr>
            <p:ph idx="1"/>
          </p:nvPr>
        </p:nvSpPr>
        <p:spPr>
          <a:xfrm>
            <a:off x="1229394" y="2752369"/>
            <a:ext cx="6957794" cy="3214040"/>
          </a:xfrm>
        </p:spPr>
        <p:txBody>
          <a:bodyPr>
            <a:noAutofit/>
          </a:bodyPr>
          <a:lstStyle/>
          <a:p>
            <a:r>
              <a:rPr lang="en-IN" sz="2400" b="0" dirty="0">
                <a:latin typeface="Calibri" panose="020F0502020204030204" pitchFamily="34" charset="0"/>
              </a:rPr>
              <a:t>A </a:t>
            </a:r>
            <a:r>
              <a:rPr lang="en-IN" sz="2400" dirty="0">
                <a:latin typeface="Calibri" panose="020F0502020204030204" pitchFamily="34" charset="0"/>
              </a:rPr>
              <a:t>Smart Solar Energy Harvesting System</a:t>
            </a:r>
            <a:r>
              <a:rPr lang="en-IN" sz="2400" b="0" dirty="0">
                <a:latin typeface="Calibri" panose="020F0502020204030204" pitchFamily="34" charset="0"/>
              </a:rPr>
              <a:t> using IoT collects solar energy with panels and stores it in batteries. IoT sensors track sunlight, battery levels, and temperature, sending this data to an app or platform so users can monitor and manage the system remotely.</a:t>
            </a:r>
            <a:endParaRPr lang="en-US" sz="2400" b="0" dirty="0">
              <a:latin typeface="Calibri" panose="020F0502020204030204" pitchFamily="34" charset="0"/>
            </a:endParaRPr>
          </a:p>
        </p:txBody>
      </p:sp>
      <p:pic>
        <p:nvPicPr>
          <p:cNvPr id="3" name="Picture 2">
            <a:extLst>
              <a:ext uri="{FF2B5EF4-FFF2-40B4-BE49-F238E27FC236}">
                <a16:creationId xmlns:a16="http://schemas.microsoft.com/office/drawing/2014/main" id="{408EA07D-56FB-271F-E687-197403B41324}"/>
              </a:ext>
            </a:extLst>
          </p:cNvPr>
          <p:cNvPicPr>
            <a:picLocks noChangeAspect="1"/>
          </p:cNvPicPr>
          <p:nvPr/>
        </p:nvPicPr>
        <p:blipFill>
          <a:blip r:embed="rId2"/>
          <a:srcRect/>
          <a:stretch/>
        </p:blipFill>
        <p:spPr>
          <a:xfrm>
            <a:off x="8345809" y="2559036"/>
            <a:ext cx="3600706" cy="3600706"/>
          </a:xfrm>
          <a:prstGeom prst="rect">
            <a:avLst/>
          </a:prstGeom>
          <a:effectLst/>
        </p:spPr>
      </p:pic>
    </p:spTree>
    <p:extLst>
      <p:ext uri="{BB962C8B-B14F-4D97-AF65-F5344CB8AC3E}">
        <p14:creationId xmlns:p14="http://schemas.microsoft.com/office/powerpoint/2010/main" val="834267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2526924-84D3-45FB-A5FE-62D8FCBF5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C2A6256-1DD0-4E4B-A8B3-9A711B4DBE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8768" y="2130218"/>
            <a:ext cx="11153231" cy="472778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1760540-185E-4652-BFD2-9B362EF3B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6641"/>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1535371" y="1044054"/>
            <a:ext cx="10013709" cy="1030360"/>
          </a:xfrm>
        </p:spPr>
        <p:txBody>
          <a:bodyPr>
            <a:normAutofit/>
          </a:bodyPr>
          <a:lstStyle/>
          <a:p>
            <a:r>
              <a:rPr lang="en-US">
                <a:solidFill>
                  <a:schemeClr val="bg1"/>
                </a:solidFill>
              </a:rPr>
              <a:t>Problem statement with Objective</a:t>
            </a:r>
          </a:p>
        </p:txBody>
      </p:sp>
      <p:sp>
        <p:nvSpPr>
          <p:cNvPr id="15" name="Rectangle 14">
            <a:extLst>
              <a:ext uri="{FF2B5EF4-FFF2-40B4-BE49-F238E27FC236}">
                <a16:creationId xmlns:a16="http://schemas.microsoft.com/office/drawing/2014/main" id="{729789F4-85C1-41A0-83EB-992E22210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962423"/>
            <a:ext cx="1006766" cy="12161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D9D367D-6DD2-4A7C-8918-0DCAC29755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2">
            <a:extLst>
              <a:ext uri="{FF2B5EF4-FFF2-40B4-BE49-F238E27FC236}">
                <a16:creationId xmlns:a16="http://schemas.microsoft.com/office/drawing/2014/main" id="{B4AFF460-41E4-3241-408B-A794E1BE7E00}"/>
              </a:ext>
            </a:extLst>
          </p:cNvPr>
          <p:cNvSpPr>
            <a:spLocks noGrp="1"/>
          </p:cNvSpPr>
          <p:nvPr>
            <p:ph idx="1"/>
          </p:nvPr>
        </p:nvSpPr>
        <p:spPr>
          <a:xfrm>
            <a:off x="1558704" y="3292583"/>
            <a:ext cx="3381788" cy="606066"/>
          </a:xfrm>
          <a:prstGeom prst="rect">
            <a:avLst/>
          </a:prstGeom>
          <a:noFill/>
          <a:ln/>
        </p:spPr>
        <p:txBody>
          <a:bodyPr wrap="none" lIns="0" tIns="0" rIns="0" bIns="0" rtlCol="0" anchor="t"/>
          <a:lstStyle/>
          <a:p>
            <a:pPr marL="0" indent="0">
              <a:lnSpc>
                <a:spcPts val="2750"/>
              </a:lnSpc>
              <a:buNone/>
            </a:pPr>
            <a:r>
              <a:rPr lang="en-US" sz="2200" dirty="0">
                <a:solidFill>
                  <a:srgbClr val="161613"/>
                </a:solidFill>
                <a:latin typeface="DM Sans Medium" pitchFamily="34" charset="0"/>
                <a:ea typeface="DM Sans Medium" pitchFamily="34" charset="-122"/>
                <a:cs typeface="DM Sans Medium" pitchFamily="34" charset="-120"/>
              </a:rPr>
              <a:t>Problem Statement</a:t>
            </a:r>
            <a:endParaRPr lang="en-US" sz="2200" dirty="0"/>
          </a:p>
        </p:txBody>
      </p:sp>
      <p:sp>
        <p:nvSpPr>
          <p:cNvPr id="4" name="Text 3">
            <a:extLst>
              <a:ext uri="{FF2B5EF4-FFF2-40B4-BE49-F238E27FC236}">
                <a16:creationId xmlns:a16="http://schemas.microsoft.com/office/drawing/2014/main" id="{E787B82C-A511-D4E8-B550-70FCB0EF72E7}"/>
              </a:ext>
            </a:extLst>
          </p:cNvPr>
          <p:cNvSpPr/>
          <p:nvPr/>
        </p:nvSpPr>
        <p:spPr>
          <a:xfrm>
            <a:off x="1535370" y="3765559"/>
            <a:ext cx="5220075" cy="2413460"/>
          </a:xfrm>
          <a:prstGeom prst="rect">
            <a:avLst/>
          </a:prstGeom>
          <a:noFill/>
          <a:ln/>
        </p:spPr>
        <p:txBody>
          <a:bodyPr wrap="square" lIns="0" tIns="0" rIns="0" bIns="0" rtlCol="0" anchor="t"/>
          <a:lstStyle/>
          <a:p>
            <a:pPr marL="0" indent="0">
              <a:lnSpc>
                <a:spcPts val="2850"/>
              </a:lnSpc>
              <a:buNone/>
            </a:pPr>
            <a:r>
              <a:rPr lang="en-US" sz="2400" dirty="0">
                <a:solidFill>
                  <a:srgbClr val="161613"/>
                </a:solidFill>
                <a:latin typeface="Calibri" panose="020F0502020204030204" pitchFamily="34" charset="0"/>
                <a:ea typeface="Inter" pitchFamily="34" charset="-122"/>
                <a:cs typeface="Inter" pitchFamily="34" charset="-120"/>
              </a:rPr>
              <a:t>Existing solar energy systems often suffer from suboptimal performance due to lack of real-time monitoring, automation, and intelligent control.</a:t>
            </a:r>
            <a:endParaRPr lang="en-US" sz="2400" dirty="0">
              <a:latin typeface="Calibri" panose="020F0502020204030204" pitchFamily="34" charset="0"/>
            </a:endParaRPr>
          </a:p>
        </p:txBody>
      </p:sp>
      <p:sp>
        <p:nvSpPr>
          <p:cNvPr id="6" name="Text 6">
            <a:extLst>
              <a:ext uri="{FF2B5EF4-FFF2-40B4-BE49-F238E27FC236}">
                <a16:creationId xmlns:a16="http://schemas.microsoft.com/office/drawing/2014/main" id="{8675035A-D04D-4211-0508-420AA271056F}"/>
              </a:ext>
            </a:extLst>
          </p:cNvPr>
          <p:cNvSpPr/>
          <p:nvPr/>
        </p:nvSpPr>
        <p:spPr>
          <a:xfrm>
            <a:off x="7251510" y="3297001"/>
            <a:ext cx="4390807" cy="2483425"/>
          </a:xfrm>
          <a:prstGeom prst="rect">
            <a:avLst/>
          </a:prstGeom>
          <a:noFill/>
          <a:ln/>
        </p:spPr>
        <p:txBody>
          <a:bodyPr wrap="square" lIns="0" tIns="0" rIns="0" bIns="0" rtlCol="0" anchor="t"/>
          <a:lstStyle/>
          <a:p>
            <a:pPr marL="0" indent="0" algn="just">
              <a:lnSpc>
                <a:spcPts val="2850"/>
              </a:lnSpc>
              <a:buNone/>
            </a:pPr>
            <a:r>
              <a:rPr lang="en-IN" sz="2400" b="1" dirty="0">
                <a:solidFill>
                  <a:srgbClr val="161613"/>
                </a:solidFill>
                <a:latin typeface="Calibri" panose="020F0502020204030204" pitchFamily="34" charset="0"/>
                <a:ea typeface="Inter" pitchFamily="34" charset="-122"/>
                <a:cs typeface="Inter" pitchFamily="34" charset="-120"/>
              </a:rPr>
              <a:t>Objective</a:t>
            </a:r>
          </a:p>
          <a:p>
            <a:pPr algn="just">
              <a:lnSpc>
                <a:spcPts val="2850"/>
              </a:lnSpc>
            </a:pPr>
            <a:r>
              <a:rPr lang="en-IN" sz="2400" dirty="0">
                <a:solidFill>
                  <a:srgbClr val="161613"/>
                </a:solidFill>
                <a:latin typeface="Calibri" panose="020F0502020204030204" pitchFamily="34" charset="0"/>
                <a:ea typeface="Inter" pitchFamily="34" charset="-122"/>
                <a:cs typeface="Inter" pitchFamily="34" charset="-120"/>
              </a:rPr>
              <a:t>1.</a:t>
            </a:r>
            <a:r>
              <a:rPr lang="en-US" sz="2400" dirty="0">
                <a:solidFill>
                  <a:srgbClr val="161613"/>
                </a:solidFill>
                <a:latin typeface="Calibri" panose="020F0502020204030204" pitchFamily="34" charset="0"/>
                <a:ea typeface="Inter" pitchFamily="34" charset="-122"/>
                <a:cs typeface="Inter" pitchFamily="34" charset="-120"/>
              </a:rPr>
              <a:t>Develop an IoT-based solar </a:t>
            </a:r>
            <a:r>
              <a:rPr lang="en-IN" sz="2400" dirty="0">
                <a:solidFill>
                  <a:srgbClr val="161613"/>
                </a:solidFill>
                <a:latin typeface="Calibri" panose="020F0502020204030204" pitchFamily="34" charset="0"/>
                <a:ea typeface="Inter" pitchFamily="34" charset="-122"/>
                <a:cs typeface="Inter" pitchFamily="34" charset="-120"/>
              </a:rPr>
              <a:t>    </a:t>
            </a:r>
            <a:r>
              <a:rPr lang="en-US" sz="2400" dirty="0">
                <a:solidFill>
                  <a:srgbClr val="161613"/>
                </a:solidFill>
                <a:latin typeface="Calibri" panose="020F0502020204030204" pitchFamily="34" charset="0"/>
                <a:ea typeface="Inter" pitchFamily="34" charset="-122"/>
                <a:cs typeface="Inter" pitchFamily="34" charset="-120"/>
              </a:rPr>
              <a:t>energy harvesting </a:t>
            </a:r>
            <a:r>
              <a:rPr lang="en-IN" sz="2400" dirty="0">
                <a:solidFill>
                  <a:srgbClr val="161613"/>
                </a:solidFill>
                <a:latin typeface="Calibri" panose="020F0502020204030204" pitchFamily="34" charset="0"/>
                <a:ea typeface="Inter" pitchFamily="34" charset="-122"/>
                <a:cs typeface="Inter" pitchFamily="34" charset="-120"/>
              </a:rPr>
              <a:t>system</a:t>
            </a:r>
          </a:p>
          <a:p>
            <a:pPr algn="just">
              <a:lnSpc>
                <a:spcPts val="2850"/>
              </a:lnSpc>
            </a:pPr>
            <a:r>
              <a:rPr lang="en-IN" sz="2400" dirty="0">
                <a:solidFill>
                  <a:srgbClr val="161613"/>
                </a:solidFill>
                <a:latin typeface="Calibri" panose="020F0502020204030204" pitchFamily="34" charset="0"/>
                <a:ea typeface="Inter" pitchFamily="34" charset="-122"/>
                <a:cs typeface="Inter" pitchFamily="34" charset="-120"/>
              </a:rPr>
              <a:t>2</a:t>
            </a:r>
            <a:r>
              <a:rPr lang="en-US" sz="2400" dirty="0">
                <a:solidFill>
                  <a:srgbClr val="161613"/>
                </a:solidFill>
                <a:latin typeface="Calibri" panose="020F0502020204030204" pitchFamily="34" charset="0"/>
                <a:ea typeface="Inter" pitchFamily="34" charset="-122"/>
                <a:cs typeface="Inter" pitchFamily="34" charset="-120"/>
              </a:rPr>
              <a:t>.Enhance energy generation, storage, and distribution efficiency 3.Provide real-time monitoring and intelligent control</a:t>
            </a:r>
            <a:endParaRPr lang="en-US" sz="2400" dirty="0">
              <a:latin typeface="Calibri" panose="020F0502020204030204" pitchFamily="34" charset="0"/>
            </a:endParaRPr>
          </a:p>
        </p:txBody>
      </p:sp>
    </p:spTree>
    <p:extLst>
      <p:ext uri="{BB962C8B-B14F-4D97-AF65-F5344CB8AC3E}">
        <p14:creationId xmlns:p14="http://schemas.microsoft.com/office/powerpoint/2010/main" val="15422719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2526924-84D3-45FB-A5FE-62D8FCBF5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C2A6256-1DD0-4E4B-A8B3-9A711B4DBE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8768" y="2130218"/>
            <a:ext cx="11153231" cy="472778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1760540-185E-4652-BFD2-9B362EF3B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6641"/>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1535371" y="1044054"/>
            <a:ext cx="10013709" cy="1030360"/>
          </a:xfrm>
        </p:spPr>
        <p:txBody>
          <a:bodyPr>
            <a:normAutofit/>
          </a:bodyPr>
          <a:lstStyle/>
          <a:p>
            <a:r>
              <a:rPr lang="en-US">
                <a:solidFill>
                  <a:schemeClr val="bg1"/>
                </a:solidFill>
              </a:rPr>
              <a:t>Algorithm or methods</a:t>
            </a:r>
          </a:p>
        </p:txBody>
      </p:sp>
      <p:sp>
        <p:nvSpPr>
          <p:cNvPr id="15" name="Rectangle 14">
            <a:extLst>
              <a:ext uri="{FF2B5EF4-FFF2-40B4-BE49-F238E27FC236}">
                <a16:creationId xmlns:a16="http://schemas.microsoft.com/office/drawing/2014/main" id="{729789F4-85C1-41A0-83EB-992E22210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962423"/>
            <a:ext cx="1006766" cy="12161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D9D367D-6DD2-4A7C-8918-0DCAC29755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6">
            <a:extLst>
              <a:ext uri="{FF2B5EF4-FFF2-40B4-BE49-F238E27FC236}">
                <a16:creationId xmlns:a16="http://schemas.microsoft.com/office/drawing/2014/main" id="{ADE1AD34-B3C4-C3FC-AFCC-443EEBF565F1}"/>
              </a:ext>
            </a:extLst>
          </p:cNvPr>
          <p:cNvSpPr/>
          <p:nvPr/>
        </p:nvSpPr>
        <p:spPr>
          <a:xfrm>
            <a:off x="1348332" y="2634133"/>
            <a:ext cx="9804900" cy="1347716"/>
          </a:xfrm>
          <a:prstGeom prst="rect">
            <a:avLst/>
          </a:prstGeom>
          <a:noFill/>
          <a:ln/>
        </p:spPr>
        <p:txBody>
          <a:bodyPr wrap="square" lIns="0" tIns="0" rIns="0" bIns="0" rtlCol="0" anchor="t"/>
          <a:lstStyle/>
          <a:p>
            <a:pPr algn="l">
              <a:lnSpc>
                <a:spcPts val="2850"/>
              </a:lnSpc>
            </a:pPr>
            <a:r>
              <a:rPr lang="en-IN" sz="2400" b="1" dirty="0">
                <a:solidFill>
                  <a:srgbClr val="161613"/>
                </a:solidFill>
                <a:latin typeface="Calibri" panose="020F0502020204030204" pitchFamily="34" charset="0"/>
                <a:ea typeface="Inter" pitchFamily="34" charset="-122"/>
                <a:cs typeface="Inter" pitchFamily="34" charset="-120"/>
              </a:rPr>
              <a:t>1.Sensor integration</a:t>
            </a:r>
          </a:p>
          <a:p>
            <a:pPr algn="l">
              <a:lnSpc>
                <a:spcPts val="2850"/>
              </a:lnSpc>
            </a:pPr>
            <a:r>
              <a:rPr lang="en-US" sz="2400" dirty="0">
                <a:solidFill>
                  <a:srgbClr val="161613"/>
                </a:solidFill>
                <a:latin typeface="Calibri" panose="020F0502020204030204" pitchFamily="34" charset="0"/>
                <a:ea typeface="Inter" pitchFamily="34" charset="-122"/>
                <a:cs typeface="Inter" pitchFamily="34" charset="-120"/>
              </a:rPr>
              <a:t>Deploy IoT sensors to monitor solar panel performance, weather conditions, and energy storage levels.</a:t>
            </a:r>
            <a:endParaRPr lang="en-US" sz="2400" dirty="0">
              <a:latin typeface="Calibri" panose="020F0502020204030204" pitchFamily="34" charset="0"/>
            </a:endParaRPr>
          </a:p>
        </p:txBody>
      </p:sp>
      <p:sp>
        <p:nvSpPr>
          <p:cNvPr id="5" name="Text 11">
            <a:extLst>
              <a:ext uri="{FF2B5EF4-FFF2-40B4-BE49-F238E27FC236}">
                <a16:creationId xmlns:a16="http://schemas.microsoft.com/office/drawing/2014/main" id="{B6AB886C-9BF4-CD7C-BC5F-D44486812A85}"/>
              </a:ext>
            </a:extLst>
          </p:cNvPr>
          <p:cNvSpPr/>
          <p:nvPr/>
        </p:nvSpPr>
        <p:spPr>
          <a:xfrm>
            <a:off x="1387611" y="3981849"/>
            <a:ext cx="8957940" cy="1487282"/>
          </a:xfrm>
          <a:prstGeom prst="rect">
            <a:avLst/>
          </a:prstGeom>
          <a:noFill/>
          <a:ln/>
        </p:spPr>
        <p:txBody>
          <a:bodyPr wrap="square" lIns="0" tIns="0" rIns="0" bIns="0" rtlCol="0" anchor="t"/>
          <a:lstStyle/>
          <a:p>
            <a:pPr marL="0" indent="0" algn="l">
              <a:lnSpc>
                <a:spcPts val="2850"/>
              </a:lnSpc>
              <a:buNone/>
            </a:pPr>
            <a:r>
              <a:rPr lang="en-IN" sz="2400" b="1" dirty="0">
                <a:solidFill>
                  <a:srgbClr val="161613"/>
                </a:solidFill>
                <a:latin typeface="Calibri" panose="020F0502020204030204" pitchFamily="34" charset="0"/>
                <a:ea typeface="Inter" pitchFamily="34" charset="-122"/>
                <a:cs typeface="Inter" pitchFamily="34" charset="-120"/>
              </a:rPr>
              <a:t>2.Data Analytics</a:t>
            </a:r>
          </a:p>
          <a:p>
            <a:pPr marL="0" indent="0" algn="l">
              <a:lnSpc>
                <a:spcPts val="2850"/>
              </a:lnSpc>
              <a:buNone/>
            </a:pPr>
            <a:r>
              <a:rPr lang="en-US" sz="2400">
                <a:solidFill>
                  <a:srgbClr val="161613"/>
                </a:solidFill>
                <a:latin typeface="Calibri" panose="020F0502020204030204" pitchFamily="34" charset="0"/>
                <a:ea typeface="Inter" pitchFamily="34" charset="-122"/>
                <a:cs typeface="Inter" pitchFamily="34" charset="-120"/>
              </a:rPr>
              <a:t>Utilize data </a:t>
            </a:r>
            <a:r>
              <a:rPr lang="en-US" sz="2400" dirty="0">
                <a:solidFill>
                  <a:srgbClr val="161613"/>
                </a:solidFill>
                <a:latin typeface="Calibri" panose="020F0502020204030204" pitchFamily="34" charset="0"/>
                <a:ea typeface="Inter" pitchFamily="34" charset="-122"/>
                <a:cs typeface="Inter" pitchFamily="34" charset="-120"/>
              </a:rPr>
              <a:t>analysis techniques to optimize energy generation and distribution.</a:t>
            </a:r>
            <a:endParaRPr lang="en-US" sz="2400" dirty="0">
              <a:latin typeface="Calibri" panose="020F0502020204030204" pitchFamily="34" charset="0"/>
            </a:endParaRPr>
          </a:p>
        </p:txBody>
      </p:sp>
      <p:sp>
        <p:nvSpPr>
          <p:cNvPr id="6" name="Text 16">
            <a:extLst>
              <a:ext uri="{FF2B5EF4-FFF2-40B4-BE49-F238E27FC236}">
                <a16:creationId xmlns:a16="http://schemas.microsoft.com/office/drawing/2014/main" id="{A82CE94D-3CB8-336B-85A2-7E71B1E21064}"/>
              </a:ext>
            </a:extLst>
          </p:cNvPr>
          <p:cNvSpPr/>
          <p:nvPr/>
        </p:nvSpPr>
        <p:spPr>
          <a:xfrm>
            <a:off x="1348332" y="5419499"/>
            <a:ext cx="9456057" cy="1088926"/>
          </a:xfrm>
          <a:prstGeom prst="rect">
            <a:avLst/>
          </a:prstGeom>
          <a:noFill/>
          <a:ln/>
        </p:spPr>
        <p:txBody>
          <a:bodyPr wrap="square" lIns="0" tIns="0" rIns="0" bIns="0" rtlCol="0" anchor="t"/>
          <a:lstStyle/>
          <a:p>
            <a:pPr marL="0" indent="0" algn="l">
              <a:lnSpc>
                <a:spcPts val="2850"/>
              </a:lnSpc>
              <a:buNone/>
            </a:pPr>
            <a:r>
              <a:rPr lang="en-IN" sz="2400" b="1" dirty="0">
                <a:solidFill>
                  <a:srgbClr val="161613"/>
                </a:solidFill>
                <a:latin typeface="Calibri" panose="020F0502020204030204" pitchFamily="34" charset="0"/>
                <a:ea typeface="Inter" pitchFamily="34" charset="-122"/>
                <a:cs typeface="Inter" pitchFamily="34" charset="-120"/>
              </a:rPr>
              <a:t>3.Automated Controls</a:t>
            </a:r>
          </a:p>
          <a:p>
            <a:pPr marL="0" indent="0" algn="l">
              <a:lnSpc>
                <a:spcPts val="2850"/>
              </a:lnSpc>
              <a:buNone/>
            </a:pPr>
            <a:r>
              <a:rPr lang="en-US" sz="2400" dirty="0">
                <a:solidFill>
                  <a:srgbClr val="161613"/>
                </a:solidFill>
                <a:latin typeface="Calibri" panose="020F0502020204030204" pitchFamily="34" charset="0"/>
                <a:ea typeface="Inter" pitchFamily="34" charset="-122"/>
                <a:cs typeface="Inter" pitchFamily="34" charset="-120"/>
              </a:rPr>
              <a:t>Implement intelligent control algorithms to adjust solar panel orientation, storage, and distribution in real-time.</a:t>
            </a:r>
            <a:endParaRPr lang="en-US" sz="2400" dirty="0">
              <a:latin typeface="Calibri" panose="020F0502020204030204" pitchFamily="34" charset="0"/>
            </a:endParaRPr>
          </a:p>
        </p:txBody>
      </p:sp>
    </p:spTree>
    <p:extLst>
      <p:ext uri="{BB962C8B-B14F-4D97-AF65-F5344CB8AC3E}">
        <p14:creationId xmlns:p14="http://schemas.microsoft.com/office/powerpoint/2010/main" val="42339897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E3B7E04-7D93-D27C-19BC-AC775B8154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040" y="1"/>
            <a:ext cx="12025960" cy="6858000"/>
          </a:xfrm>
          <a:prstGeom prst="rect">
            <a:avLst/>
          </a:prstGeom>
        </p:spPr>
      </p:pic>
    </p:spTree>
    <p:extLst>
      <p:ext uri="{BB962C8B-B14F-4D97-AF65-F5344CB8AC3E}">
        <p14:creationId xmlns:p14="http://schemas.microsoft.com/office/powerpoint/2010/main" val="13409862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2526924-84D3-45FB-A5FE-62D8FCBF5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C2A6256-1DD0-4E4B-A8B3-9A711B4DBE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8768" y="2130218"/>
            <a:ext cx="11153231" cy="472778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1760540-185E-4652-BFD2-9B362EF3B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6641"/>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1535371" y="1044054"/>
            <a:ext cx="10013709" cy="1030360"/>
          </a:xfrm>
        </p:spPr>
        <p:txBody>
          <a:bodyPr>
            <a:normAutofit/>
          </a:bodyPr>
          <a:lstStyle/>
          <a:p>
            <a:r>
              <a:rPr lang="en-US">
                <a:solidFill>
                  <a:schemeClr val="bg1"/>
                </a:solidFill>
              </a:rPr>
              <a:t>Modules</a:t>
            </a:r>
          </a:p>
        </p:txBody>
      </p:sp>
      <p:sp>
        <p:nvSpPr>
          <p:cNvPr id="15" name="Rectangle 14">
            <a:extLst>
              <a:ext uri="{FF2B5EF4-FFF2-40B4-BE49-F238E27FC236}">
                <a16:creationId xmlns:a16="http://schemas.microsoft.com/office/drawing/2014/main" id="{729789F4-85C1-41A0-83EB-992E22210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962423"/>
            <a:ext cx="1006766" cy="12161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D9D367D-6DD2-4A7C-8918-0DCAC29755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2">
            <a:extLst>
              <a:ext uri="{FF2B5EF4-FFF2-40B4-BE49-F238E27FC236}">
                <a16:creationId xmlns:a16="http://schemas.microsoft.com/office/drawing/2014/main" id="{D9D809EA-E306-A335-9C0C-A11D70BE75B2}"/>
              </a:ext>
            </a:extLst>
          </p:cNvPr>
          <p:cNvSpPr>
            <a:spLocks noGrp="1"/>
          </p:cNvSpPr>
          <p:nvPr>
            <p:ph idx="1"/>
          </p:nvPr>
        </p:nvSpPr>
        <p:spPr>
          <a:xfrm>
            <a:off x="1289347" y="4020667"/>
            <a:ext cx="2873485" cy="4597845"/>
          </a:xfrm>
          <a:prstGeom prst="rect">
            <a:avLst/>
          </a:prstGeom>
          <a:noFill/>
          <a:ln/>
        </p:spPr>
        <p:txBody>
          <a:bodyPr wrap="square" lIns="0" tIns="0" rIns="0" bIns="0" rtlCol="0" anchor="t">
            <a:noAutofit/>
          </a:bodyPr>
          <a:lstStyle/>
          <a:p>
            <a:pPr marL="0" indent="0" algn="l">
              <a:lnSpc>
                <a:spcPts val="2850"/>
              </a:lnSpc>
              <a:buNone/>
            </a:pPr>
            <a:endParaRPr lang="en-IN" sz="2400" b="0" dirty="0">
              <a:solidFill>
                <a:srgbClr val="161613"/>
              </a:solidFill>
              <a:latin typeface="Calibri" panose="020F0502020204030204" pitchFamily="34" charset="0"/>
              <a:ea typeface="Inter" pitchFamily="34" charset="-122"/>
              <a:cs typeface="Inter" pitchFamily="34" charset="-120"/>
            </a:endParaRPr>
          </a:p>
          <a:p>
            <a:pPr marL="0" indent="0" algn="l">
              <a:lnSpc>
                <a:spcPts val="2850"/>
              </a:lnSpc>
              <a:buNone/>
            </a:pPr>
            <a:r>
              <a:rPr lang="en-IN" sz="2400" dirty="0">
                <a:solidFill>
                  <a:srgbClr val="161613"/>
                </a:solidFill>
                <a:latin typeface="Calibri" panose="020F0502020204030204" pitchFamily="34" charset="0"/>
                <a:ea typeface="Inter" pitchFamily="34" charset="-122"/>
                <a:cs typeface="Inter" pitchFamily="34" charset="-120"/>
              </a:rPr>
              <a:t>Solar panels</a:t>
            </a:r>
          </a:p>
          <a:p>
            <a:pPr marL="0" indent="0" algn="l">
              <a:lnSpc>
                <a:spcPts val="2850"/>
              </a:lnSpc>
              <a:buNone/>
            </a:pPr>
            <a:r>
              <a:rPr lang="en-IN" sz="2400" b="0" dirty="0">
                <a:solidFill>
                  <a:srgbClr val="161613"/>
                </a:solidFill>
                <a:latin typeface="Calibri" panose="020F0502020204030204" pitchFamily="34" charset="0"/>
                <a:ea typeface="Inter" pitchFamily="34" charset="-122"/>
                <a:cs typeface="Inter" pitchFamily="34" charset="-120"/>
              </a:rPr>
              <a:t>Photo</a:t>
            </a:r>
            <a:r>
              <a:rPr lang="en-US" sz="2400" b="0" dirty="0">
                <a:solidFill>
                  <a:srgbClr val="161613"/>
                </a:solidFill>
                <a:latin typeface="Calibri" panose="020F0502020204030204" pitchFamily="34" charset="0"/>
                <a:ea typeface="Inter" pitchFamily="34" charset="-122"/>
                <a:cs typeface="Inter" pitchFamily="34" charset="-120"/>
              </a:rPr>
              <a:t>voltaic panels to convert sunlight into electrical energy.</a:t>
            </a:r>
            <a:endParaRPr lang="en-US" sz="2400" b="0" dirty="0">
              <a:latin typeface="Calibri" panose="020F0502020204030204" pitchFamily="34" charset="0"/>
            </a:endParaRPr>
          </a:p>
        </p:txBody>
      </p:sp>
      <p:sp>
        <p:nvSpPr>
          <p:cNvPr id="4" name="Text 4">
            <a:extLst>
              <a:ext uri="{FF2B5EF4-FFF2-40B4-BE49-F238E27FC236}">
                <a16:creationId xmlns:a16="http://schemas.microsoft.com/office/drawing/2014/main" id="{2A514F12-41D6-3C2B-A6B7-3C8255A8EE5C}"/>
              </a:ext>
            </a:extLst>
          </p:cNvPr>
          <p:cNvSpPr/>
          <p:nvPr/>
        </p:nvSpPr>
        <p:spPr>
          <a:xfrm>
            <a:off x="4405128" y="4494109"/>
            <a:ext cx="2286462" cy="2440019"/>
          </a:xfrm>
          <a:prstGeom prst="rect">
            <a:avLst/>
          </a:prstGeom>
          <a:noFill/>
          <a:ln/>
        </p:spPr>
        <p:txBody>
          <a:bodyPr wrap="square" lIns="0" tIns="0" rIns="0" bIns="0" rtlCol="0" anchor="t"/>
          <a:lstStyle/>
          <a:p>
            <a:pPr marL="0" indent="0" algn="l">
              <a:lnSpc>
                <a:spcPts val="2850"/>
              </a:lnSpc>
              <a:buNone/>
            </a:pPr>
            <a:r>
              <a:rPr lang="en-IN" sz="2400" b="1" dirty="0">
                <a:solidFill>
                  <a:srgbClr val="161613"/>
                </a:solidFill>
                <a:latin typeface="Calibri" panose="020F0502020204030204" pitchFamily="34" charset="0"/>
                <a:ea typeface="Inter" pitchFamily="34" charset="-122"/>
                <a:cs typeface="Inter" pitchFamily="34" charset="-120"/>
              </a:rPr>
              <a:t>Energy storage</a:t>
            </a:r>
          </a:p>
          <a:p>
            <a:pPr marL="0" indent="0" algn="l">
              <a:lnSpc>
                <a:spcPts val="2850"/>
              </a:lnSpc>
              <a:buNone/>
            </a:pPr>
            <a:r>
              <a:rPr lang="en-US" sz="2400" dirty="0">
                <a:solidFill>
                  <a:srgbClr val="161613"/>
                </a:solidFill>
                <a:latin typeface="Calibri" panose="020F0502020204030204" pitchFamily="34" charset="0"/>
                <a:ea typeface="Inter" pitchFamily="34" charset="-122"/>
                <a:cs typeface="Inter" pitchFamily="34" charset="-120"/>
              </a:rPr>
              <a:t>Batteries and other storage solutions to store excess energy.</a:t>
            </a:r>
            <a:endParaRPr lang="en-US" sz="2400" dirty="0">
              <a:latin typeface="Calibri" panose="020F0502020204030204" pitchFamily="34" charset="0"/>
            </a:endParaRPr>
          </a:p>
        </p:txBody>
      </p:sp>
      <p:sp>
        <p:nvSpPr>
          <p:cNvPr id="5" name="Text 6">
            <a:extLst>
              <a:ext uri="{FF2B5EF4-FFF2-40B4-BE49-F238E27FC236}">
                <a16:creationId xmlns:a16="http://schemas.microsoft.com/office/drawing/2014/main" id="{ECB93621-FBD4-F036-0F9C-B8B76CD39943}"/>
              </a:ext>
            </a:extLst>
          </p:cNvPr>
          <p:cNvSpPr/>
          <p:nvPr/>
        </p:nvSpPr>
        <p:spPr>
          <a:xfrm>
            <a:off x="6770808" y="4494109"/>
            <a:ext cx="2670986" cy="2179630"/>
          </a:xfrm>
          <a:prstGeom prst="rect">
            <a:avLst/>
          </a:prstGeom>
          <a:noFill/>
          <a:ln/>
        </p:spPr>
        <p:txBody>
          <a:bodyPr wrap="square" lIns="0" tIns="0" rIns="0" bIns="0" rtlCol="0" anchor="t"/>
          <a:lstStyle/>
          <a:p>
            <a:pPr marL="0" indent="0" algn="l">
              <a:lnSpc>
                <a:spcPts val="2850"/>
              </a:lnSpc>
              <a:buNone/>
            </a:pPr>
            <a:r>
              <a:rPr lang="en-IN" sz="2400" b="1" dirty="0">
                <a:solidFill>
                  <a:srgbClr val="161613"/>
                </a:solidFill>
                <a:latin typeface="Calibri" panose="020F0502020204030204" pitchFamily="34" charset="0"/>
                <a:ea typeface="Inter" pitchFamily="34" charset="-122"/>
                <a:cs typeface="Inter" pitchFamily="34" charset="-120"/>
              </a:rPr>
              <a:t>IOT sensors</a:t>
            </a:r>
          </a:p>
          <a:p>
            <a:pPr marL="0" indent="0" algn="l">
              <a:lnSpc>
                <a:spcPts val="2850"/>
              </a:lnSpc>
              <a:buNone/>
            </a:pPr>
            <a:r>
              <a:rPr lang="en-US" sz="2400" dirty="0">
                <a:solidFill>
                  <a:srgbClr val="161613"/>
                </a:solidFill>
                <a:latin typeface="Calibri" panose="020F0502020204030204" pitchFamily="34" charset="0"/>
                <a:ea typeface="Inter" pitchFamily="34" charset="-122"/>
                <a:cs typeface="Inter" pitchFamily="34" charset="-120"/>
              </a:rPr>
              <a:t>Monitoring devices to collect real-time data on system performance.</a:t>
            </a:r>
            <a:endParaRPr lang="en-US" sz="2400" dirty="0">
              <a:latin typeface="Calibri" panose="020F0502020204030204" pitchFamily="34" charset="0"/>
            </a:endParaRPr>
          </a:p>
        </p:txBody>
      </p:sp>
      <p:sp>
        <p:nvSpPr>
          <p:cNvPr id="6" name="Text 8">
            <a:extLst>
              <a:ext uri="{FF2B5EF4-FFF2-40B4-BE49-F238E27FC236}">
                <a16:creationId xmlns:a16="http://schemas.microsoft.com/office/drawing/2014/main" id="{0B4AFFB2-547A-DC3E-8CBB-8A9736D35493}"/>
              </a:ext>
            </a:extLst>
          </p:cNvPr>
          <p:cNvSpPr/>
          <p:nvPr/>
        </p:nvSpPr>
        <p:spPr>
          <a:xfrm>
            <a:off x="9474825" y="4526043"/>
            <a:ext cx="2756783" cy="1221573"/>
          </a:xfrm>
          <a:prstGeom prst="rect">
            <a:avLst/>
          </a:prstGeom>
          <a:noFill/>
          <a:ln/>
        </p:spPr>
        <p:txBody>
          <a:bodyPr wrap="square" lIns="0" tIns="0" rIns="0" bIns="0" rtlCol="0" anchor="t"/>
          <a:lstStyle/>
          <a:p>
            <a:pPr marL="0" indent="0" algn="l">
              <a:lnSpc>
                <a:spcPts val="2850"/>
              </a:lnSpc>
              <a:buNone/>
            </a:pPr>
            <a:r>
              <a:rPr lang="en-IN" sz="2400" b="1" dirty="0">
                <a:solidFill>
                  <a:srgbClr val="161613"/>
                </a:solidFill>
                <a:latin typeface="Calibri" panose="020F0502020204030204" pitchFamily="34" charset="0"/>
                <a:ea typeface="Inter" pitchFamily="34" charset="-122"/>
                <a:cs typeface="Inter" pitchFamily="34" charset="-120"/>
              </a:rPr>
              <a:t>Control systems</a:t>
            </a:r>
          </a:p>
          <a:p>
            <a:pPr marL="0" indent="0" algn="l">
              <a:lnSpc>
                <a:spcPts val="2850"/>
              </a:lnSpc>
              <a:buNone/>
            </a:pPr>
            <a:r>
              <a:rPr lang="en-US" sz="2400" dirty="0">
                <a:solidFill>
                  <a:srgbClr val="161613"/>
                </a:solidFill>
                <a:latin typeface="Calibri" panose="020F0502020204030204" pitchFamily="34" charset="0"/>
                <a:ea typeface="Inter" pitchFamily="34" charset="-122"/>
                <a:cs typeface="Inter" pitchFamily="34" charset="-120"/>
              </a:rPr>
              <a:t>Intelligent algorithms to optimize energy generation and distribution.</a:t>
            </a:r>
            <a:endParaRPr lang="en-US" sz="2400" dirty="0">
              <a:latin typeface="Calibri" panose="020F0502020204030204" pitchFamily="34" charset="0"/>
            </a:endParaRPr>
          </a:p>
        </p:txBody>
      </p:sp>
      <p:pic>
        <p:nvPicPr>
          <p:cNvPr id="3" name="Picture 2">
            <a:extLst>
              <a:ext uri="{FF2B5EF4-FFF2-40B4-BE49-F238E27FC236}">
                <a16:creationId xmlns:a16="http://schemas.microsoft.com/office/drawing/2014/main" id="{4DA6547A-8DFC-6BD1-4CEB-077022A616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4527" y="3278460"/>
            <a:ext cx="1071562" cy="1071562"/>
          </a:xfrm>
          <a:prstGeom prst="rect">
            <a:avLst/>
          </a:prstGeom>
        </p:spPr>
      </p:pic>
      <p:pic>
        <p:nvPicPr>
          <p:cNvPr id="8" name="Picture 7">
            <a:extLst>
              <a:ext uri="{FF2B5EF4-FFF2-40B4-BE49-F238E27FC236}">
                <a16:creationId xmlns:a16="http://schemas.microsoft.com/office/drawing/2014/main" id="{A6C3CFCA-3DEF-660D-F93E-7DDAE8CB41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05151" y="3158804"/>
            <a:ext cx="1335303" cy="1335303"/>
          </a:xfrm>
          <a:prstGeom prst="rect">
            <a:avLst/>
          </a:prstGeom>
        </p:spPr>
      </p:pic>
      <p:pic>
        <p:nvPicPr>
          <p:cNvPr id="12" name="Picture 11">
            <a:extLst>
              <a:ext uri="{FF2B5EF4-FFF2-40B4-BE49-F238E27FC236}">
                <a16:creationId xmlns:a16="http://schemas.microsoft.com/office/drawing/2014/main" id="{1B3D3E75-C522-CE51-F737-E526FEB7FACD}"/>
              </a:ext>
            </a:extLst>
          </p:cNvPr>
          <p:cNvPicPr>
            <a:picLocks noChangeAspect="1"/>
          </p:cNvPicPr>
          <p:nvPr/>
        </p:nvPicPr>
        <p:blipFill>
          <a:blip r:embed="rId4"/>
          <a:srcRect/>
          <a:stretch/>
        </p:blipFill>
        <p:spPr>
          <a:xfrm>
            <a:off x="6766504" y="3125176"/>
            <a:ext cx="1335303" cy="1286746"/>
          </a:xfrm>
          <a:prstGeom prst="rect">
            <a:avLst/>
          </a:prstGeom>
        </p:spPr>
      </p:pic>
      <p:pic>
        <p:nvPicPr>
          <p:cNvPr id="10" name="Picture 9">
            <a:extLst>
              <a:ext uri="{FF2B5EF4-FFF2-40B4-BE49-F238E27FC236}">
                <a16:creationId xmlns:a16="http://schemas.microsoft.com/office/drawing/2014/main" id="{1BEEE809-6929-75E4-B3DA-4BE17FB995C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04896" y="3331583"/>
            <a:ext cx="1080339" cy="1080339"/>
          </a:xfrm>
          <a:prstGeom prst="rect">
            <a:avLst/>
          </a:prstGeom>
        </p:spPr>
      </p:pic>
    </p:spTree>
    <p:extLst>
      <p:ext uri="{BB962C8B-B14F-4D97-AF65-F5344CB8AC3E}">
        <p14:creationId xmlns:p14="http://schemas.microsoft.com/office/powerpoint/2010/main" val="35487937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2526924-84D3-45FB-A5FE-62D8FCBF5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C2A6256-1DD0-4E4B-A8B3-9A711B4DBE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8768" y="2130218"/>
            <a:ext cx="11153231" cy="472778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1760540-185E-4652-BFD2-9B362EF3B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6641"/>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1535371" y="1044054"/>
            <a:ext cx="10013709" cy="1030360"/>
          </a:xfrm>
        </p:spPr>
        <p:txBody>
          <a:bodyPr>
            <a:normAutofit/>
          </a:bodyPr>
          <a:lstStyle/>
          <a:p>
            <a:r>
              <a:rPr lang="en-US">
                <a:solidFill>
                  <a:schemeClr val="bg1"/>
                </a:solidFill>
              </a:rPr>
              <a:t>Output</a:t>
            </a:r>
          </a:p>
        </p:txBody>
      </p:sp>
      <p:sp>
        <p:nvSpPr>
          <p:cNvPr id="15" name="Rectangle 14">
            <a:extLst>
              <a:ext uri="{FF2B5EF4-FFF2-40B4-BE49-F238E27FC236}">
                <a16:creationId xmlns:a16="http://schemas.microsoft.com/office/drawing/2014/main" id="{729789F4-85C1-41A0-83EB-992E22210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962423"/>
            <a:ext cx="1006766" cy="12161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D9D367D-6DD2-4A7C-8918-0DCAC29755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1CCBBF0D-839F-465E-9041-9805764A19EB}"/>
              </a:ext>
            </a:extLst>
          </p:cNvPr>
          <p:cNvPicPr/>
          <p:nvPr/>
        </p:nvPicPr>
        <p:blipFill rotWithShape="1">
          <a:blip r:embed="rId2" cstate="print">
            <a:extLst>
              <a:ext uri="{BEBA8EAE-BF5A-486C-A8C5-ECC9F3942E4B}">
                <a14:imgProps xmlns:a14="http://schemas.microsoft.com/office/drawing/2010/main">
                  <a14:imgLayer r:embed="rId3">
                    <a14:imgEffect>
                      <a14:sharpenSoften amount="50000"/>
                    </a14:imgEffect>
                    <a14:imgEffect>
                      <a14:brightnessContrast bright="20000" contrast="20000"/>
                    </a14:imgEffect>
                  </a14:imgLayer>
                </a14:imgProps>
              </a:ext>
              <a:ext uri="{28A0092B-C50C-407E-A947-70E740481C1C}">
                <a14:useLocalDpi xmlns:a14="http://schemas.microsoft.com/office/drawing/2010/main" val="0"/>
              </a:ext>
            </a:extLst>
          </a:blip>
          <a:srcRect t="3758" b="6537"/>
          <a:stretch/>
        </p:blipFill>
        <p:spPr bwMode="auto">
          <a:xfrm>
            <a:off x="2774305" y="2244996"/>
            <a:ext cx="2774693" cy="4498226"/>
          </a:xfrm>
          <a:prstGeom prst="rect">
            <a:avLst/>
          </a:prstGeom>
          <a:noFill/>
          <a:ln>
            <a:noFill/>
          </a:ln>
          <a:extLst>
            <a:ext uri="{53640926-AAD7-44D8-BBD7-CCE9431645EC}">
              <a14:shadowObscured xmlns:a14="http://schemas.microsoft.com/office/drawing/2010/main"/>
            </a:ext>
          </a:extLst>
        </p:spPr>
      </p:pic>
      <p:pic>
        <p:nvPicPr>
          <p:cNvPr id="19" name="Picture 18">
            <a:extLst>
              <a:ext uri="{FF2B5EF4-FFF2-40B4-BE49-F238E27FC236}">
                <a16:creationId xmlns:a16="http://schemas.microsoft.com/office/drawing/2014/main" id="{BC4C672C-59DD-4E91-B5BB-246798E7C6E4}"/>
              </a:ext>
            </a:extLst>
          </p:cNvPr>
          <p:cNvPicPr/>
          <p:nvPr/>
        </p:nvPicPr>
        <p:blipFill rotWithShape="1">
          <a:blip r:embed="rId4" cstate="print">
            <a:extLst>
              <a:ext uri="{28A0092B-C50C-407E-A947-70E740481C1C}">
                <a14:useLocalDpi xmlns:a14="http://schemas.microsoft.com/office/drawing/2010/main" val="0"/>
              </a:ext>
            </a:extLst>
          </a:blip>
          <a:srcRect l="14785" r="22749" b="15492"/>
          <a:stretch/>
        </p:blipFill>
        <p:spPr bwMode="auto">
          <a:xfrm>
            <a:off x="6144806" y="2670459"/>
            <a:ext cx="3642932" cy="2193934"/>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7773484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2526924-84D3-45FB-A5FE-62D8FCBF5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C2A6256-1DD0-4E4B-A8B3-9A711B4DBE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8768" y="2130218"/>
            <a:ext cx="11153231" cy="472778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1760540-185E-4652-BFD2-9B362EF3B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6641"/>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1535371" y="1044054"/>
            <a:ext cx="10013709" cy="1030360"/>
          </a:xfrm>
        </p:spPr>
        <p:txBody>
          <a:bodyPr>
            <a:normAutofit/>
          </a:bodyPr>
          <a:lstStyle/>
          <a:p>
            <a:r>
              <a:rPr lang="en-US">
                <a:solidFill>
                  <a:schemeClr val="bg1"/>
                </a:solidFill>
              </a:rPr>
              <a:t>Conclusion</a:t>
            </a:r>
          </a:p>
        </p:txBody>
      </p:sp>
      <p:sp>
        <p:nvSpPr>
          <p:cNvPr id="15" name="Rectangle 14">
            <a:extLst>
              <a:ext uri="{FF2B5EF4-FFF2-40B4-BE49-F238E27FC236}">
                <a16:creationId xmlns:a16="http://schemas.microsoft.com/office/drawing/2014/main" id="{729789F4-85C1-41A0-83EB-992E22210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962423"/>
            <a:ext cx="1006766" cy="12161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D9D367D-6DD2-4A7C-8918-0DCAC29755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74A3F46-13A7-BC59-FA55-0CB25E6E37BF}"/>
              </a:ext>
            </a:extLst>
          </p:cNvPr>
          <p:cNvSpPr txBox="1"/>
          <p:nvPr/>
        </p:nvSpPr>
        <p:spPr>
          <a:xfrm>
            <a:off x="1321892" y="3059372"/>
            <a:ext cx="6157009" cy="3108543"/>
          </a:xfrm>
          <a:prstGeom prst="rect">
            <a:avLst/>
          </a:prstGeom>
          <a:noFill/>
        </p:spPr>
        <p:txBody>
          <a:bodyPr wrap="square">
            <a:spAutoFit/>
          </a:bodyPr>
          <a:lstStyle/>
          <a:p>
            <a:pPr algn="justLow"/>
            <a:r>
              <a:rPr lang="en-IN" sz="2800" dirty="0">
                <a:latin typeface="Calibri" panose="020F0502020204030204" pitchFamily="34" charset="0"/>
              </a:rPr>
              <a:t>A smart solar system using IoT improves efficiency by tracking sunlight, weather, and energy needs in real time. This allows it to optimize energy capture, adjust storage, and integrate with the grid, making solar energy more reliable and adaptable.</a:t>
            </a:r>
            <a:endParaRPr lang="en-US" sz="2800" dirty="0">
              <a:latin typeface="Calibri" panose="020F0502020204030204" pitchFamily="34" charset="0"/>
            </a:endParaRPr>
          </a:p>
        </p:txBody>
      </p:sp>
      <p:pic>
        <p:nvPicPr>
          <p:cNvPr id="8" name="Picture 7">
            <a:extLst>
              <a:ext uri="{FF2B5EF4-FFF2-40B4-BE49-F238E27FC236}">
                <a16:creationId xmlns:a16="http://schemas.microsoft.com/office/drawing/2014/main" id="{7F923B14-6B3A-BBFC-DD81-B85337A7E1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11171" y="2587559"/>
            <a:ext cx="3637909" cy="3580356"/>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737514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2526924-84D3-45FB-A5FE-62D8FCBF53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C2A6256-1DD0-4E4B-A8B3-9A711B4DBE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8768" y="2130218"/>
            <a:ext cx="11153231" cy="4727782"/>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1760540-185E-4652-BFD2-9B362EF3B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6641"/>
            <a:ext cx="12192000" cy="13477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cNvSpPr>
            <a:spLocks noGrp="1"/>
          </p:cNvSpPr>
          <p:nvPr>
            <p:ph type="ctrTitle"/>
          </p:nvPr>
        </p:nvSpPr>
        <p:spPr>
          <a:xfrm>
            <a:off x="1535371" y="1044054"/>
            <a:ext cx="10013709" cy="1030360"/>
          </a:xfrm>
        </p:spPr>
        <p:txBody>
          <a:bodyPr>
            <a:normAutofit/>
          </a:bodyPr>
          <a:lstStyle/>
          <a:p>
            <a:r>
              <a:rPr lang="en-US">
                <a:solidFill>
                  <a:schemeClr val="bg1"/>
                </a:solidFill>
              </a:rPr>
              <a:t>References</a:t>
            </a:r>
          </a:p>
        </p:txBody>
      </p:sp>
      <p:sp>
        <p:nvSpPr>
          <p:cNvPr id="15" name="Rectangle 14">
            <a:extLst>
              <a:ext uri="{FF2B5EF4-FFF2-40B4-BE49-F238E27FC236}">
                <a16:creationId xmlns:a16="http://schemas.microsoft.com/office/drawing/2014/main" id="{729789F4-85C1-41A0-83EB-992E22210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962423"/>
            <a:ext cx="1006766" cy="12161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D9D367D-6DD2-4A7C-8918-0DCAC29755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p:cNvSpPr>
            <a:spLocks noGrp="1"/>
          </p:cNvSpPr>
          <p:nvPr>
            <p:ph idx="1"/>
          </p:nvPr>
        </p:nvSpPr>
        <p:spPr>
          <a:xfrm>
            <a:off x="1535371" y="2702257"/>
            <a:ext cx="9935571" cy="3426158"/>
          </a:xfrm>
        </p:spPr>
        <p:txBody>
          <a:bodyPr anchor="t">
            <a:normAutofit fontScale="25000" lnSpcReduction="20000"/>
          </a:bodyPr>
          <a:lstStyle/>
          <a:p>
            <a:pPr marL="342900" marR="0" lvl="0" indent="-342900">
              <a:lnSpc>
                <a:spcPct val="120000"/>
              </a:lnSpc>
              <a:spcBef>
                <a:spcPts val="0"/>
              </a:spcBef>
              <a:spcAft>
                <a:spcPts val="0"/>
              </a:spcAft>
              <a:buFont typeface="+mj-lt"/>
              <a:buAutoNum type="arabicPeriod"/>
            </a:pPr>
            <a:r>
              <a:rPr lang="en-US" sz="5600" b="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Myriam Cumbajín</a:t>
            </a:r>
            <a:r>
              <a:rPr lang="en-US" sz="5600" b="0" baseline="3000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1</a:t>
            </a:r>
            <a:r>
              <a:rPr lang="en-US" sz="5600" b="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 Patricio Sánchez</a:t>
            </a:r>
            <a:r>
              <a:rPr lang="en-US" sz="5600" b="0" baseline="3000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1</a:t>
            </a:r>
            <a:r>
              <a:rPr lang="en-US" sz="5600" b="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 Maritza Núñez</a:t>
            </a:r>
            <a:r>
              <a:rPr lang="en-US" sz="5600" b="0" baseline="3000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2</a:t>
            </a:r>
            <a:r>
              <a:rPr lang="en-US" sz="5600" b="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 and Carlos Gordón</a:t>
            </a:r>
            <a:r>
              <a:rPr lang="en-US" sz="5600" b="0" baseline="3000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2</a:t>
            </a:r>
            <a:r>
              <a:rPr lang="en-US" sz="5600" b="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 </a:t>
            </a:r>
            <a:r>
              <a:rPr lang="en-US" sz="5600" b="0" strike="noStrike"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hlinkClick r:id="rId2">
                  <a:extLst>
                    <a:ext uri="{A12FA001-AC4F-418D-AE19-62706E023703}">
                      <ahyp:hlinkClr xmlns:ahyp="http://schemas.microsoft.com/office/drawing/2018/hyperlinkcolor" val="tx"/>
                    </a:ext>
                  </a:extLst>
                </a:hlinkClick>
              </a:rPr>
              <a:t>IOP Conference Series: Earth and Environmental Science</a:t>
            </a:r>
            <a:r>
              <a:rPr lang="en-US" sz="5600" b="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 </a:t>
            </a:r>
            <a:r>
              <a:rPr lang="en-US" sz="5600" b="0" strike="noStrike"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hlinkClick r:id="rId3">
                  <a:extLst>
                    <a:ext uri="{A12FA001-AC4F-418D-AE19-62706E023703}">
                      <ahyp:hlinkClr xmlns:ahyp="http://schemas.microsoft.com/office/drawing/2018/hyperlinkcolor" val="tx"/>
                    </a:ext>
                  </a:extLst>
                </a:hlinkClick>
              </a:rPr>
              <a:t>Volume 1141</a:t>
            </a:r>
            <a:r>
              <a:rPr lang="en-US" sz="5600" b="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 </a:t>
            </a:r>
            <a:r>
              <a:rPr lang="en-US" sz="5600" b="0" strike="noStrike"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hlinkClick r:id="rId4">
                  <a:extLst>
                    <a:ext uri="{A12FA001-AC4F-418D-AE19-62706E023703}">
                      <ahyp:hlinkClr xmlns:ahyp="http://schemas.microsoft.com/office/drawing/2018/hyperlinkcolor" val="tx"/>
                    </a:ext>
                  </a:extLst>
                </a:hlinkClick>
              </a:rPr>
              <a:t>Congress on Sustainability, Energy and City 2022 12/09/2022 - 13/09/2022 Ambato, </a:t>
            </a:r>
            <a:r>
              <a:rPr lang="en-US" sz="5600" b="0" strike="noStrike" dirty="0" err="1">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hlinkClick r:id="rId4">
                  <a:extLst>
                    <a:ext uri="{A12FA001-AC4F-418D-AE19-62706E023703}">
                      <ahyp:hlinkClr xmlns:ahyp="http://schemas.microsoft.com/office/drawing/2018/hyperlinkcolor" val="tx"/>
                    </a:ext>
                  </a:extLst>
                </a:hlinkClick>
              </a:rPr>
              <a:t>Ecuador</a:t>
            </a:r>
            <a:r>
              <a:rPr lang="en-US" sz="5600" b="0" dirty="0" err="1">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Citation</a:t>
            </a:r>
            <a:r>
              <a:rPr lang="en-US" sz="5600" b="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 Myriam </a:t>
            </a:r>
            <a:r>
              <a:rPr lang="en-US" sz="5600" b="0" dirty="0" err="1">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Cumbajín</a:t>
            </a:r>
            <a:r>
              <a:rPr lang="en-US" sz="5600" b="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 et al 2023 IOP Conf. Ser.: Earth Environ. Sci. 1141 012008DOI 10.1088/1755-1315/1141/1/012008 </a:t>
            </a:r>
            <a:endParaRPr lang="en-US" sz="5600" b="0" dirty="0">
              <a:solidFill>
                <a:schemeClr val="tx1">
                  <a:lumMod val="95000"/>
                  <a:lumOff val="5000"/>
                </a:schemeClr>
              </a:solidFill>
              <a:effectLst/>
              <a:latin typeface="Angsana New" panose="02020603050405020304" pitchFamily="18" charset="-34"/>
              <a:ea typeface="Calibri" panose="020F0502020204030204" pitchFamily="34" charset="0"/>
              <a:cs typeface="Angsana New" panose="02020603050405020304" pitchFamily="18" charset="-34"/>
            </a:endParaRPr>
          </a:p>
          <a:p>
            <a:pPr marL="342900" marR="0" lvl="0" indent="-342900">
              <a:lnSpc>
                <a:spcPct val="120000"/>
              </a:lnSpc>
              <a:spcBef>
                <a:spcPts val="0"/>
              </a:spcBef>
              <a:spcAft>
                <a:spcPts val="0"/>
              </a:spcAft>
              <a:buFont typeface="+mj-lt"/>
              <a:buAutoNum type="arabicPeriod"/>
            </a:pPr>
            <a:r>
              <a:rPr lang="en-US" sz="5600" b="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Dipak </a:t>
            </a:r>
            <a:r>
              <a:rPr lang="en-US" sz="5600" b="0" dirty="0" err="1">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kumar</a:t>
            </a:r>
            <a:r>
              <a:rPr lang="en-US" sz="5600" b="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 </a:t>
            </a:r>
            <a:r>
              <a:rPr lang="en-US" sz="5600" b="0" dirty="0" err="1">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sah</a:t>
            </a:r>
            <a:r>
              <a:rPr lang="en-US" sz="5600" b="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 </a:t>
            </a:r>
            <a:r>
              <a:rPr lang="en-US" sz="5600" b="0" baseline="3000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1</a:t>
            </a:r>
            <a:r>
              <a:rPr lang="en-US" sz="5600" b="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,Nabajoyti Mazumdar</a:t>
            </a:r>
            <a:r>
              <a:rPr lang="en-US" sz="5600" b="0" baseline="3000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2 </a:t>
            </a:r>
            <a:r>
              <a:rPr lang="en-US" sz="5600" b="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,Pankaj pal</a:t>
            </a:r>
            <a:r>
              <a:rPr lang="en-US" sz="5600" b="0" baseline="3000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3 </a:t>
            </a:r>
            <a:r>
              <a:rPr lang="en-US" sz="5600" b="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,Tarachand Amgoth</a:t>
            </a:r>
            <a:r>
              <a:rPr lang="en-US" sz="5600" b="0" baseline="3000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4</a:t>
            </a:r>
            <a:r>
              <a:rPr lang="en-US" sz="5600" b="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 December 2022 DOI:</a:t>
            </a:r>
            <a:r>
              <a:rPr lang="en-US" sz="5600" b="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hlinkClick r:id="rId5">
                  <a:extLst>
                    <a:ext uri="{A12FA001-AC4F-418D-AE19-62706E023703}">
                      <ahyp:hlinkClr xmlns:ahyp="http://schemas.microsoft.com/office/drawing/2018/hyperlinkcolor" val="tx"/>
                    </a:ext>
                  </a:extLst>
                </a:hlinkClick>
              </a:rPr>
              <a:t>10.1109/UPCON56432.2022.9986433</a:t>
            </a:r>
            <a:r>
              <a:rPr lang="en-US" sz="5600" b="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 Conference: 2022 IEEE 9th Uttar Pradesh Section International Conference on Electrical, Electronics and Computer Engineering (UPCON)</a:t>
            </a:r>
            <a:endParaRPr lang="en-US" sz="5600" b="0" dirty="0">
              <a:solidFill>
                <a:schemeClr val="tx1">
                  <a:lumMod val="95000"/>
                  <a:lumOff val="5000"/>
                </a:schemeClr>
              </a:solidFill>
              <a:effectLst/>
              <a:latin typeface="Angsana New" panose="02020603050405020304" pitchFamily="18" charset="-34"/>
              <a:ea typeface="Calibri" panose="020F0502020204030204" pitchFamily="34" charset="0"/>
              <a:cs typeface="Angsana New" panose="02020603050405020304" pitchFamily="18" charset="-34"/>
            </a:endParaRPr>
          </a:p>
          <a:p>
            <a:pPr marL="342900" marR="0" lvl="0" indent="-342900" fontAlgn="base">
              <a:lnSpc>
                <a:spcPct val="120000"/>
              </a:lnSpc>
              <a:spcBef>
                <a:spcPts val="0"/>
              </a:spcBef>
              <a:spcAft>
                <a:spcPts val="0"/>
              </a:spcAft>
              <a:buFont typeface="+mj-lt"/>
              <a:buAutoNum type="arabicPeriod"/>
            </a:pPr>
            <a:r>
              <a:rPr lang="en-US" sz="5600" b="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Myriam Cumbajín</a:t>
            </a:r>
            <a:r>
              <a:rPr lang="en-US" sz="5600" b="0" baseline="3000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1</a:t>
            </a:r>
            <a:r>
              <a:rPr lang="en-US" sz="5600" b="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 Patricio Sánchez</a:t>
            </a:r>
            <a:r>
              <a:rPr lang="en-US" sz="5600" b="0" baseline="3000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1</a:t>
            </a:r>
            <a:r>
              <a:rPr lang="en-US" sz="5600" b="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 Maritza Núñez</a:t>
            </a:r>
            <a:r>
              <a:rPr lang="en-US" sz="5600" b="0" baseline="3000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2</a:t>
            </a:r>
            <a:r>
              <a:rPr lang="en-US" sz="5600" b="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 and Carlos Gordón</a:t>
            </a:r>
            <a:r>
              <a:rPr lang="en-US" sz="5600" b="0" baseline="3000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2</a:t>
            </a:r>
            <a:r>
              <a:rPr lang="en-US" sz="5600" b="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 Published under </a:t>
            </a:r>
            <a:r>
              <a:rPr lang="en-US" sz="5600" b="0" dirty="0" err="1">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licence</a:t>
            </a:r>
            <a:r>
              <a:rPr lang="en-US" sz="5600" b="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 by IOP Publishing Ltd </a:t>
            </a:r>
            <a:r>
              <a:rPr lang="en-US" sz="5600" b="0" strike="noStrike"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hlinkClick r:id="rId2">
                  <a:extLst>
                    <a:ext uri="{A12FA001-AC4F-418D-AE19-62706E023703}">
                      <ahyp:hlinkClr xmlns:ahyp="http://schemas.microsoft.com/office/drawing/2018/hyperlinkcolor" val="tx"/>
                    </a:ext>
                  </a:extLst>
                </a:hlinkClick>
              </a:rPr>
              <a:t>IOP Conference Series: Earth and Environmental Science</a:t>
            </a:r>
            <a:r>
              <a:rPr lang="en-US" sz="5600" b="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 </a:t>
            </a:r>
            <a:r>
              <a:rPr lang="en-US" sz="5600" b="0" strike="noStrike"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hlinkClick r:id="rId3">
                  <a:extLst>
                    <a:ext uri="{A12FA001-AC4F-418D-AE19-62706E023703}">
                      <ahyp:hlinkClr xmlns:ahyp="http://schemas.microsoft.com/office/drawing/2018/hyperlinkcolor" val="tx"/>
                    </a:ext>
                  </a:extLst>
                </a:hlinkClick>
              </a:rPr>
              <a:t>Volume 1141</a:t>
            </a:r>
            <a:r>
              <a:rPr lang="en-US" sz="5600" b="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 </a:t>
            </a:r>
            <a:r>
              <a:rPr lang="en-US" sz="5600" b="0" strike="noStrike"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hlinkClick r:id="rId4">
                  <a:extLst>
                    <a:ext uri="{A12FA001-AC4F-418D-AE19-62706E023703}">
                      <ahyp:hlinkClr xmlns:ahyp="http://schemas.microsoft.com/office/drawing/2018/hyperlinkcolor" val="tx"/>
                    </a:ext>
                  </a:extLst>
                </a:hlinkClick>
              </a:rPr>
              <a:t>Congress on Sustainability, Energy and City 2022 12/09/2022 - 13/09/2022 Ambato, </a:t>
            </a:r>
            <a:r>
              <a:rPr lang="en-US" sz="5600" b="0" strike="noStrike" dirty="0" err="1">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hlinkClick r:id="rId4">
                  <a:extLst>
                    <a:ext uri="{A12FA001-AC4F-418D-AE19-62706E023703}">
                      <ahyp:hlinkClr xmlns:ahyp="http://schemas.microsoft.com/office/drawing/2018/hyperlinkcolor" val="tx"/>
                    </a:ext>
                  </a:extLst>
                </a:hlinkClick>
              </a:rPr>
              <a:t>Ecuador</a:t>
            </a:r>
            <a:r>
              <a:rPr lang="en-US" sz="5600" b="0" dirty="0" err="1">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Citation</a:t>
            </a:r>
            <a:r>
              <a:rPr lang="en-US" sz="5600" b="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 Myriam </a:t>
            </a:r>
            <a:r>
              <a:rPr lang="en-US" sz="5600" b="0" dirty="0" err="1">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Cumbajín</a:t>
            </a:r>
            <a:r>
              <a:rPr lang="en-US" sz="5600" b="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rPr>
              <a:t> et al 2023 IOP Conf. Ser.: Earth Environ. Sci. 1141 012008DOI 10.1088/1755-1315/1141/1/012008</a:t>
            </a:r>
            <a:endParaRPr lang="en-US" sz="5600" b="0" dirty="0">
              <a:solidFill>
                <a:schemeClr val="tx1">
                  <a:lumMod val="95000"/>
                  <a:lumOff val="5000"/>
                </a:schemeClr>
              </a:solidFill>
              <a:effectLst/>
              <a:latin typeface="Angsana New" panose="02020603050405020304" pitchFamily="18" charset="-34"/>
              <a:ea typeface="Calibri" panose="020F0502020204030204" pitchFamily="34" charset="0"/>
              <a:cs typeface="Angsana New" panose="02020603050405020304" pitchFamily="18" charset="-34"/>
            </a:endParaRPr>
          </a:p>
          <a:p>
            <a:pPr marL="342900" marR="0" lvl="0" indent="-342900">
              <a:lnSpc>
                <a:spcPct val="120000"/>
              </a:lnSpc>
              <a:spcBef>
                <a:spcPts val="0"/>
              </a:spcBef>
              <a:spcAft>
                <a:spcPts val="0"/>
              </a:spcAft>
              <a:buFont typeface="+mj-lt"/>
              <a:buAutoNum type="arabicPeriod"/>
            </a:pPr>
            <a:r>
              <a:rPr lang="en-US" sz="5600" b="0" strike="noStrike" dirty="0">
                <a:solidFill>
                  <a:schemeClr val="tx1">
                    <a:lumMod val="95000"/>
                    <a:lumOff val="5000"/>
                  </a:schemeClr>
                </a:solidFill>
                <a:effectLst/>
                <a:latin typeface="Angsana New" panose="02020603050405020304" pitchFamily="18" charset="-34"/>
                <a:ea typeface="Calibri" panose="020F0502020204030204" pitchFamily="34" charset="0"/>
                <a:cs typeface="Angsana New" panose="02020603050405020304" pitchFamily="18" charset="-34"/>
                <a:hlinkClick r:id="rId6">
                  <a:extLst>
                    <a:ext uri="{A12FA001-AC4F-418D-AE19-62706E023703}">
                      <ahyp:hlinkClr xmlns:ahyp="http://schemas.microsoft.com/office/drawing/2018/hyperlinkcolor" val="tx"/>
                    </a:ext>
                  </a:extLst>
                </a:hlinkClick>
              </a:rPr>
              <a:t>Himanshu Sharma</a:t>
            </a:r>
            <a:r>
              <a:rPr lang="en-US" sz="5600" b="0" dirty="0">
                <a:solidFill>
                  <a:schemeClr val="tx1">
                    <a:lumMod val="95000"/>
                    <a:lumOff val="5000"/>
                  </a:schemeClr>
                </a:solidFill>
                <a:effectLst/>
                <a:latin typeface="Angsana New" panose="02020603050405020304" pitchFamily="18" charset="-34"/>
                <a:ea typeface="Calibri" panose="020F0502020204030204" pitchFamily="34" charset="0"/>
                <a:cs typeface="Angsana New" panose="02020603050405020304" pitchFamily="18" charset="-34"/>
              </a:rPr>
              <a:t>; </a:t>
            </a:r>
            <a:r>
              <a:rPr lang="en-US" sz="5600" b="0" strike="noStrike" dirty="0" err="1">
                <a:solidFill>
                  <a:schemeClr val="tx1">
                    <a:lumMod val="95000"/>
                    <a:lumOff val="5000"/>
                  </a:schemeClr>
                </a:solidFill>
                <a:effectLst/>
                <a:latin typeface="Angsana New" panose="02020603050405020304" pitchFamily="18" charset="-34"/>
                <a:ea typeface="Calibri" panose="020F0502020204030204" pitchFamily="34" charset="0"/>
                <a:cs typeface="Angsana New" panose="02020603050405020304" pitchFamily="18" charset="-34"/>
                <a:hlinkClick r:id="rId7">
                  <a:extLst>
                    <a:ext uri="{A12FA001-AC4F-418D-AE19-62706E023703}">
                      <ahyp:hlinkClr xmlns:ahyp="http://schemas.microsoft.com/office/drawing/2018/hyperlinkcolor" val="tx"/>
                    </a:ext>
                  </a:extLst>
                </a:hlinkClick>
              </a:rPr>
              <a:t>Ahteshamul</a:t>
            </a:r>
            <a:r>
              <a:rPr lang="en-US" sz="5600" b="0" strike="noStrike" dirty="0">
                <a:solidFill>
                  <a:schemeClr val="tx1">
                    <a:lumMod val="95000"/>
                    <a:lumOff val="5000"/>
                  </a:schemeClr>
                </a:solidFill>
                <a:effectLst/>
                <a:latin typeface="Angsana New" panose="02020603050405020304" pitchFamily="18" charset="-34"/>
                <a:ea typeface="Calibri" panose="020F0502020204030204" pitchFamily="34" charset="0"/>
                <a:cs typeface="Angsana New" panose="02020603050405020304" pitchFamily="18" charset="-34"/>
                <a:hlinkClick r:id="rId7">
                  <a:extLst>
                    <a:ext uri="{A12FA001-AC4F-418D-AE19-62706E023703}">
                      <ahyp:hlinkClr xmlns:ahyp="http://schemas.microsoft.com/office/drawing/2018/hyperlinkcolor" val="tx"/>
                    </a:ext>
                  </a:extLst>
                </a:hlinkClick>
              </a:rPr>
              <a:t> Haque</a:t>
            </a:r>
            <a:r>
              <a:rPr lang="en-US" sz="5600" b="0" dirty="0">
                <a:solidFill>
                  <a:schemeClr val="tx1">
                    <a:lumMod val="95000"/>
                    <a:lumOff val="5000"/>
                  </a:schemeClr>
                </a:solidFill>
                <a:effectLst/>
                <a:latin typeface="Angsana New" panose="02020603050405020304" pitchFamily="18" charset="-34"/>
                <a:ea typeface="Calibri" panose="020F0502020204030204" pitchFamily="34" charset="0"/>
                <a:cs typeface="Angsana New" panose="02020603050405020304" pitchFamily="18" charset="-34"/>
                <a:hlinkClick r:id="rId7">
                  <a:extLst>
                    <a:ext uri="{A12FA001-AC4F-418D-AE19-62706E023703}">
                      <ahyp:hlinkClr xmlns:ahyp="http://schemas.microsoft.com/office/drawing/2018/hyperlinkcolor" val="tx"/>
                    </a:ext>
                  </a:extLst>
                </a:hlinkClick>
              </a:rPr>
              <a:t>; </a:t>
            </a:r>
            <a:r>
              <a:rPr lang="en-US" sz="5600" b="0" strike="noStrike" dirty="0" err="1">
                <a:solidFill>
                  <a:schemeClr val="tx1">
                    <a:lumMod val="95000"/>
                    <a:lumOff val="5000"/>
                  </a:schemeClr>
                </a:solidFill>
                <a:effectLst/>
                <a:latin typeface="Angsana New" panose="02020603050405020304" pitchFamily="18" charset="-34"/>
                <a:ea typeface="Calibri" panose="020F0502020204030204" pitchFamily="34" charset="0"/>
                <a:cs typeface="Angsana New" panose="02020603050405020304" pitchFamily="18" charset="-34"/>
                <a:hlinkClick r:id="rId7">
                  <a:extLst>
                    <a:ext uri="{A12FA001-AC4F-418D-AE19-62706E023703}">
                      <ahyp:hlinkClr xmlns:ahyp="http://schemas.microsoft.com/office/drawing/2018/hyperlinkcolor" val="tx"/>
                    </a:ext>
                  </a:extLst>
                </a:hlinkClick>
              </a:rPr>
              <a:t>Zainul</a:t>
            </a:r>
            <a:r>
              <a:rPr lang="en-US" sz="5600" b="0" strike="noStrike" dirty="0">
                <a:solidFill>
                  <a:schemeClr val="tx1">
                    <a:lumMod val="95000"/>
                    <a:lumOff val="5000"/>
                  </a:schemeClr>
                </a:solidFill>
                <a:effectLst/>
                <a:latin typeface="Angsana New" panose="02020603050405020304" pitchFamily="18" charset="-34"/>
                <a:ea typeface="Calibri" panose="020F0502020204030204" pitchFamily="34" charset="0"/>
                <a:cs typeface="Angsana New" panose="02020603050405020304" pitchFamily="18" charset="-34"/>
                <a:hlinkClick r:id="rId7">
                  <a:extLst>
                    <a:ext uri="{A12FA001-AC4F-418D-AE19-62706E023703}">
                      <ahyp:hlinkClr xmlns:ahyp="http://schemas.microsoft.com/office/drawing/2018/hyperlinkcolor" val="tx"/>
                    </a:ext>
                  </a:extLst>
                </a:hlinkClick>
              </a:rPr>
              <a:t> </a:t>
            </a:r>
            <a:r>
              <a:rPr lang="en-US" sz="5600" b="0" strike="noStrike" dirty="0" err="1">
                <a:solidFill>
                  <a:schemeClr val="tx1">
                    <a:lumMod val="95000"/>
                    <a:lumOff val="5000"/>
                  </a:schemeClr>
                </a:solidFill>
                <a:effectLst/>
                <a:latin typeface="Angsana New" panose="02020603050405020304" pitchFamily="18" charset="-34"/>
                <a:ea typeface="Calibri" panose="020F0502020204030204" pitchFamily="34" charset="0"/>
                <a:cs typeface="Angsana New" panose="02020603050405020304" pitchFamily="18" charset="-34"/>
                <a:hlinkClick r:id="rId7">
                  <a:extLst>
                    <a:ext uri="{A12FA001-AC4F-418D-AE19-62706E023703}">
                      <ahyp:hlinkClr xmlns:ahyp="http://schemas.microsoft.com/office/drawing/2018/hyperlinkcolor" val="tx"/>
                    </a:ext>
                  </a:extLst>
                </a:hlinkClick>
              </a:rPr>
              <a:t>Abdin</a:t>
            </a:r>
            <a:r>
              <a:rPr lang="en-US" sz="5600" b="0" strike="noStrike" dirty="0">
                <a:solidFill>
                  <a:schemeClr val="tx1">
                    <a:lumMod val="95000"/>
                    <a:lumOff val="5000"/>
                  </a:schemeClr>
                </a:solidFill>
                <a:effectLst/>
                <a:latin typeface="Angsana New" panose="02020603050405020304" pitchFamily="18" charset="-34"/>
                <a:ea typeface="Calibri" panose="020F0502020204030204" pitchFamily="34" charset="0"/>
                <a:cs typeface="Angsana New" panose="02020603050405020304" pitchFamily="18" charset="-34"/>
                <a:hlinkClick r:id="rId7">
                  <a:extLst>
                    <a:ext uri="{A12FA001-AC4F-418D-AE19-62706E023703}">
                      <ahyp:hlinkClr xmlns:ahyp="http://schemas.microsoft.com/office/drawing/2018/hyperlinkcolor" val="tx"/>
                    </a:ext>
                  </a:extLst>
                </a:hlinkClick>
              </a:rPr>
              <a:t> </a:t>
            </a:r>
            <a:r>
              <a:rPr lang="en-US" sz="5600" b="0" strike="noStrike" dirty="0" err="1">
                <a:solidFill>
                  <a:schemeClr val="tx1">
                    <a:lumMod val="95000"/>
                    <a:lumOff val="5000"/>
                  </a:schemeClr>
                </a:solidFill>
                <a:effectLst/>
                <a:latin typeface="Angsana New" panose="02020603050405020304" pitchFamily="18" charset="-34"/>
                <a:ea typeface="Calibri" panose="020F0502020204030204" pitchFamily="34" charset="0"/>
                <a:cs typeface="Angsana New" panose="02020603050405020304" pitchFamily="18" charset="-34"/>
                <a:hlinkClick r:id="rId7">
                  <a:extLst>
                    <a:ext uri="{A12FA001-AC4F-418D-AE19-62706E023703}">
                      <ahyp:hlinkClr xmlns:ahyp="http://schemas.microsoft.com/office/drawing/2018/hyperlinkcolor" val="tx"/>
                    </a:ext>
                  </a:extLst>
                </a:hlinkClick>
              </a:rPr>
              <a:t>Jaffery</a:t>
            </a:r>
            <a:r>
              <a:rPr lang="en-US" sz="5600" b="0" dirty="0">
                <a:solidFill>
                  <a:schemeClr val="tx1">
                    <a:lumMod val="95000"/>
                    <a:lumOff val="5000"/>
                  </a:schemeClr>
                </a:solidFill>
                <a:effectLst/>
                <a:latin typeface="Angsana New" panose="02020603050405020304" pitchFamily="18" charset="-34"/>
                <a:ea typeface="Calibri" panose="020F0502020204030204" pitchFamily="34" charset="0"/>
                <a:cs typeface="Angsana New" panose="02020603050405020304" pitchFamily="18" charset="-34"/>
                <a:hlinkClick r:id="rId7">
                  <a:extLst>
                    <a:ext uri="{A12FA001-AC4F-418D-AE19-62706E023703}">
                      <ahyp:hlinkClr xmlns:ahyp="http://schemas.microsoft.com/office/drawing/2018/hyperlinkcolor" val="tx"/>
                    </a:ext>
                  </a:extLst>
                </a:hlinkClick>
              </a:rPr>
              <a:t> </a:t>
            </a:r>
            <a:r>
              <a:rPr lang="en-US" sz="5600" b="0" strike="noStrike" dirty="0">
                <a:solidFill>
                  <a:schemeClr val="tx1">
                    <a:lumMod val="95000"/>
                    <a:lumOff val="5000"/>
                  </a:schemeClr>
                </a:solidFill>
                <a:effectLst/>
                <a:latin typeface="Angsana New" panose="02020603050405020304" pitchFamily="18" charset="-34"/>
                <a:ea typeface="Calibri" panose="020F0502020204030204" pitchFamily="34" charset="0"/>
                <a:cs typeface="Angsana New" panose="02020603050405020304" pitchFamily="18" charset="-34"/>
                <a:hlinkClick r:id="rId7">
                  <a:extLst>
                    <a:ext uri="{A12FA001-AC4F-418D-AE19-62706E023703}">
                      <ahyp:hlinkClr xmlns:ahyp="http://schemas.microsoft.com/office/drawing/2018/hyperlinkcolor" val="tx"/>
                    </a:ext>
                  </a:extLst>
                </a:hlinkClick>
              </a:rPr>
              <a:t>2018 2nd IEEE International Conference on Power Electronics, Intelligent Control and Energy Systems (ICPEICES)</a:t>
            </a:r>
            <a:r>
              <a:rPr lang="en-US" sz="5600" b="0" dirty="0">
                <a:solidFill>
                  <a:schemeClr val="tx1">
                    <a:lumMod val="95000"/>
                    <a:lumOff val="5000"/>
                  </a:schemeClr>
                </a:solidFill>
                <a:effectLst/>
                <a:latin typeface="Angsana New" panose="02020603050405020304" pitchFamily="18" charset="-34"/>
                <a:ea typeface="Calibri" panose="020F0502020204030204" pitchFamily="34" charset="0"/>
                <a:cs typeface="Angsana New" panose="02020603050405020304" pitchFamily="18" charset="-34"/>
                <a:hlinkClick r:id="rId7">
                  <a:extLst>
                    <a:ext uri="{A12FA001-AC4F-418D-AE19-62706E023703}">
                      <ahyp:hlinkClr xmlns:ahyp="http://schemas.microsoft.com/office/drawing/2018/hyperlinkcolor" val="tx"/>
                    </a:ext>
                  </a:extLst>
                </a:hlinkClick>
              </a:rPr>
              <a:t> </a:t>
            </a:r>
            <a:r>
              <a:rPr lang="en-US" sz="5600" b="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hlinkClick r:id="rId7">
                  <a:extLst>
                    <a:ext uri="{A12FA001-AC4F-418D-AE19-62706E023703}">
                      <ahyp:hlinkClr xmlns:ahyp="http://schemas.microsoft.com/office/drawing/2018/hyperlinkcolor" val="tx"/>
                    </a:ext>
                  </a:extLst>
                </a:hlinkClick>
              </a:rPr>
              <a:t>Electronic ISBN:978-1-5386-6625-8</a:t>
            </a:r>
            <a:r>
              <a:rPr lang="en-US" sz="5600" b="0" dirty="0">
                <a:solidFill>
                  <a:schemeClr val="tx1">
                    <a:lumMod val="95000"/>
                    <a:lumOff val="5000"/>
                  </a:schemeClr>
                </a:solidFill>
                <a:effectLst/>
                <a:latin typeface="Angsana New" panose="02020603050405020304" pitchFamily="18" charset="-34"/>
                <a:ea typeface="Calibri" panose="020F0502020204030204" pitchFamily="34" charset="0"/>
                <a:cs typeface="Angsana New" panose="02020603050405020304" pitchFamily="18" charset="-34"/>
                <a:hlinkClick r:id="rId7">
                  <a:extLst>
                    <a:ext uri="{A12FA001-AC4F-418D-AE19-62706E023703}">
                      <ahyp:hlinkClr xmlns:ahyp="http://schemas.microsoft.com/office/drawing/2018/hyperlinkcolor" val="tx"/>
                    </a:ext>
                  </a:extLst>
                </a:hlinkClick>
              </a:rPr>
              <a:t> </a:t>
            </a:r>
            <a:r>
              <a:rPr lang="en-US" sz="5600" b="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hlinkClick r:id="rId7">
                  <a:extLst>
                    <a:ext uri="{A12FA001-AC4F-418D-AE19-62706E023703}">
                      <ahyp:hlinkClr xmlns:ahyp="http://schemas.microsoft.com/office/drawing/2018/hyperlinkcolor" val="tx"/>
                    </a:ext>
                  </a:extLst>
                </a:hlinkClick>
              </a:rPr>
              <a:t>Print on Demand(</a:t>
            </a:r>
            <a:r>
              <a:rPr lang="en-US" sz="5600" b="0" dirty="0" err="1">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hlinkClick r:id="rId7">
                  <a:extLst>
                    <a:ext uri="{A12FA001-AC4F-418D-AE19-62706E023703}">
                      <ahyp:hlinkClr xmlns:ahyp="http://schemas.microsoft.com/office/drawing/2018/hyperlinkcolor" val="tx"/>
                    </a:ext>
                  </a:extLst>
                </a:hlinkClick>
              </a:rPr>
              <a:t>PoD</a:t>
            </a:r>
            <a:r>
              <a:rPr lang="en-US" sz="5600" b="0" dirty="0">
                <a:solidFill>
                  <a:schemeClr val="tx1">
                    <a:lumMod val="95000"/>
                    <a:lumOff val="5000"/>
                  </a:schemeClr>
                </a:solidFill>
                <a:effectLst/>
                <a:latin typeface="Angsana New" panose="02020603050405020304" pitchFamily="18" charset="-34"/>
                <a:ea typeface="Times New Roman" panose="02020603050405020304" pitchFamily="18" charset="0"/>
                <a:cs typeface="Angsana New" panose="02020603050405020304" pitchFamily="18" charset="-34"/>
                <a:hlinkClick r:id="rId7">
                  <a:extLst>
                    <a:ext uri="{A12FA001-AC4F-418D-AE19-62706E023703}">
                      <ahyp:hlinkClr xmlns:ahyp="http://schemas.microsoft.com/office/drawing/2018/hyperlinkcolor" val="tx"/>
                    </a:ext>
                  </a:extLst>
                </a:hlinkClick>
              </a:rPr>
              <a:t>) ISBN:978-1-5386-6624-1</a:t>
            </a:r>
            <a:r>
              <a:rPr lang="en-US" sz="5600" b="0" dirty="0">
                <a:solidFill>
                  <a:schemeClr val="tx1">
                    <a:lumMod val="95000"/>
                    <a:lumOff val="5000"/>
                  </a:schemeClr>
                </a:solidFill>
                <a:effectLst/>
                <a:latin typeface="Angsana New" panose="02020603050405020304" pitchFamily="18" charset="-34"/>
                <a:ea typeface="Calibri" panose="020F0502020204030204" pitchFamily="34" charset="0"/>
                <a:cs typeface="Angsana New" panose="02020603050405020304" pitchFamily="18" charset="-34"/>
                <a:hlinkClick r:id="rId7">
                  <a:extLst>
                    <a:ext uri="{A12FA001-AC4F-418D-AE19-62706E023703}">
                      <ahyp:hlinkClr xmlns:ahyp="http://schemas.microsoft.com/office/drawing/2018/hyperlinkcolor" val="tx"/>
                    </a:ext>
                  </a:extLst>
                </a:hlinkClick>
              </a:rPr>
              <a:t> </a:t>
            </a:r>
          </a:p>
          <a:p>
            <a:pPr marL="342900" marR="0" lvl="0" indent="-342900">
              <a:lnSpc>
                <a:spcPct val="120000"/>
              </a:lnSpc>
              <a:spcBef>
                <a:spcPts val="0"/>
              </a:spcBef>
              <a:spcAft>
                <a:spcPts val="0"/>
              </a:spcAft>
              <a:buFont typeface="+mj-lt"/>
              <a:buAutoNum type="arabicPeriod"/>
            </a:pPr>
            <a:r>
              <a:rPr lang="en-US" sz="5600" b="0" dirty="0">
                <a:solidFill>
                  <a:schemeClr val="tx1">
                    <a:lumMod val="95000"/>
                    <a:lumOff val="5000"/>
                  </a:schemeClr>
                </a:solidFill>
                <a:effectLst/>
                <a:latin typeface="Angsana New" panose="02020603050405020304" pitchFamily="18" charset="-34"/>
                <a:ea typeface="Calibri" panose="020F0502020204030204" pitchFamily="34" charset="0"/>
                <a:cs typeface="Angsana New" panose="02020603050405020304" pitchFamily="18" charset="-34"/>
                <a:hlinkClick r:id="rId7">
                  <a:extLst>
                    <a:ext uri="{A12FA001-AC4F-418D-AE19-62706E023703}">
                      <ahyp:hlinkClr xmlns:ahyp="http://schemas.microsoft.com/office/drawing/2018/hyperlinkcolor" val="tx"/>
                    </a:ext>
                  </a:extLst>
                </a:hlinkClick>
              </a:rPr>
              <a:t>Prof S.A Sheikh*1, </a:t>
            </a:r>
            <a:r>
              <a:rPr lang="en-US" sz="5600" b="0" dirty="0" err="1">
                <a:solidFill>
                  <a:schemeClr val="tx1">
                    <a:lumMod val="95000"/>
                    <a:lumOff val="5000"/>
                  </a:schemeClr>
                </a:solidFill>
                <a:effectLst/>
                <a:latin typeface="Angsana New" panose="02020603050405020304" pitchFamily="18" charset="-34"/>
                <a:ea typeface="Calibri" panose="020F0502020204030204" pitchFamily="34" charset="0"/>
                <a:cs typeface="Angsana New" panose="02020603050405020304" pitchFamily="18" charset="-34"/>
                <a:hlinkClick r:id="rId7">
                  <a:extLst>
                    <a:ext uri="{A12FA001-AC4F-418D-AE19-62706E023703}">
                      <ahyp:hlinkClr xmlns:ahyp="http://schemas.microsoft.com/office/drawing/2018/hyperlinkcolor" val="tx"/>
                    </a:ext>
                  </a:extLst>
                </a:hlinkClick>
              </a:rPr>
              <a:t>Dimpal</a:t>
            </a:r>
            <a:r>
              <a:rPr lang="en-US" sz="5600" b="0" dirty="0">
                <a:solidFill>
                  <a:schemeClr val="tx1">
                    <a:lumMod val="95000"/>
                    <a:lumOff val="5000"/>
                  </a:schemeClr>
                </a:solidFill>
                <a:effectLst/>
                <a:latin typeface="Angsana New" panose="02020603050405020304" pitchFamily="18" charset="-34"/>
                <a:ea typeface="Calibri" panose="020F0502020204030204" pitchFamily="34" charset="0"/>
                <a:cs typeface="Angsana New" panose="02020603050405020304" pitchFamily="18" charset="-34"/>
                <a:hlinkClick r:id="rId7">
                  <a:extLst>
                    <a:ext uri="{A12FA001-AC4F-418D-AE19-62706E023703}">
                      <ahyp:hlinkClr xmlns:ahyp="http://schemas.microsoft.com/office/drawing/2018/hyperlinkcolor" val="tx"/>
                    </a:ext>
                  </a:extLst>
                </a:hlinkClick>
              </a:rPr>
              <a:t> </a:t>
            </a:r>
            <a:r>
              <a:rPr lang="en-US" sz="5600" b="0" dirty="0" err="1">
                <a:solidFill>
                  <a:schemeClr val="tx1">
                    <a:lumMod val="95000"/>
                    <a:lumOff val="5000"/>
                  </a:schemeClr>
                </a:solidFill>
                <a:effectLst/>
                <a:latin typeface="Angsana New" panose="02020603050405020304" pitchFamily="18" charset="-34"/>
                <a:ea typeface="Calibri" panose="020F0502020204030204" pitchFamily="34" charset="0"/>
                <a:cs typeface="Angsana New" panose="02020603050405020304" pitchFamily="18" charset="-34"/>
                <a:hlinkClick r:id="rId7">
                  <a:extLst>
                    <a:ext uri="{A12FA001-AC4F-418D-AE19-62706E023703}">
                      <ahyp:hlinkClr xmlns:ahyp="http://schemas.microsoft.com/office/drawing/2018/hyperlinkcolor" val="tx"/>
                    </a:ext>
                  </a:extLst>
                </a:hlinkClick>
              </a:rPr>
              <a:t>Dhuware</a:t>
            </a:r>
            <a:r>
              <a:rPr lang="en-US" sz="5600" b="0" dirty="0">
                <a:solidFill>
                  <a:schemeClr val="tx1">
                    <a:lumMod val="95000"/>
                    <a:lumOff val="5000"/>
                  </a:schemeClr>
                </a:solidFill>
                <a:effectLst/>
                <a:latin typeface="Angsana New" panose="02020603050405020304" pitchFamily="18" charset="-34"/>
                <a:ea typeface="Calibri" panose="020F0502020204030204" pitchFamily="34" charset="0"/>
                <a:cs typeface="Angsana New" panose="02020603050405020304" pitchFamily="18" charset="-34"/>
                <a:hlinkClick r:id="rId7">
                  <a:extLst>
                    <a:ext uri="{A12FA001-AC4F-418D-AE19-62706E023703}">
                      <ahyp:hlinkClr xmlns:ahyp="http://schemas.microsoft.com/office/drawing/2018/hyperlinkcolor" val="tx"/>
                    </a:ext>
                  </a:extLst>
                </a:hlinkClick>
              </a:rPr>
              <a:t>*2, </a:t>
            </a:r>
            <a:r>
              <a:rPr lang="en-US" sz="5600" b="0" dirty="0" err="1">
                <a:solidFill>
                  <a:schemeClr val="tx1">
                    <a:lumMod val="95000"/>
                    <a:lumOff val="5000"/>
                  </a:schemeClr>
                </a:solidFill>
                <a:effectLst/>
                <a:latin typeface="Angsana New" panose="02020603050405020304" pitchFamily="18" charset="-34"/>
                <a:ea typeface="Calibri" panose="020F0502020204030204" pitchFamily="34" charset="0"/>
                <a:cs typeface="Angsana New" panose="02020603050405020304" pitchFamily="18" charset="-34"/>
                <a:hlinkClick r:id="rId7">
                  <a:extLst>
                    <a:ext uri="{A12FA001-AC4F-418D-AE19-62706E023703}">
                      <ahyp:hlinkClr xmlns:ahyp="http://schemas.microsoft.com/office/drawing/2018/hyperlinkcolor" val="tx"/>
                    </a:ext>
                  </a:extLst>
                </a:hlinkClick>
              </a:rPr>
              <a:t>Ranju</a:t>
            </a:r>
            <a:r>
              <a:rPr lang="en-US" sz="5600" b="0" dirty="0">
                <a:solidFill>
                  <a:schemeClr val="tx1">
                    <a:lumMod val="95000"/>
                    <a:lumOff val="5000"/>
                  </a:schemeClr>
                </a:solidFill>
                <a:effectLst/>
                <a:latin typeface="Angsana New" panose="02020603050405020304" pitchFamily="18" charset="-34"/>
                <a:ea typeface="Calibri" panose="020F0502020204030204" pitchFamily="34" charset="0"/>
                <a:cs typeface="Angsana New" panose="02020603050405020304" pitchFamily="18" charset="-34"/>
                <a:hlinkClick r:id="rId7">
                  <a:extLst>
                    <a:ext uri="{A12FA001-AC4F-418D-AE19-62706E023703}">
                      <ahyp:hlinkClr xmlns:ahyp="http://schemas.microsoft.com/office/drawing/2018/hyperlinkcolor" val="tx"/>
                    </a:ext>
                  </a:extLst>
                </a:hlinkClick>
              </a:rPr>
              <a:t> </a:t>
            </a:r>
            <a:r>
              <a:rPr lang="en-US" sz="5600" b="0" dirty="0" err="1">
                <a:solidFill>
                  <a:schemeClr val="tx1">
                    <a:lumMod val="95000"/>
                    <a:lumOff val="5000"/>
                  </a:schemeClr>
                </a:solidFill>
                <a:effectLst/>
                <a:latin typeface="Angsana New" panose="02020603050405020304" pitchFamily="18" charset="-34"/>
                <a:ea typeface="Calibri" panose="020F0502020204030204" pitchFamily="34" charset="0"/>
                <a:cs typeface="Angsana New" panose="02020603050405020304" pitchFamily="18" charset="-34"/>
                <a:hlinkClick r:id="rId7">
                  <a:extLst>
                    <a:ext uri="{A12FA001-AC4F-418D-AE19-62706E023703}">
                      <ahyp:hlinkClr xmlns:ahyp="http://schemas.microsoft.com/office/drawing/2018/hyperlinkcolor" val="tx"/>
                    </a:ext>
                  </a:extLst>
                </a:hlinkClick>
              </a:rPr>
              <a:t>Gharsele</a:t>
            </a:r>
            <a:r>
              <a:rPr lang="en-US" sz="5600" b="0" dirty="0">
                <a:solidFill>
                  <a:schemeClr val="tx1">
                    <a:lumMod val="95000"/>
                    <a:lumOff val="5000"/>
                  </a:schemeClr>
                </a:solidFill>
                <a:effectLst/>
                <a:latin typeface="Angsana New" panose="02020603050405020304" pitchFamily="18" charset="-34"/>
                <a:ea typeface="Calibri" panose="020F0502020204030204" pitchFamily="34" charset="0"/>
                <a:cs typeface="Angsana New" panose="02020603050405020304" pitchFamily="18" charset="-34"/>
                <a:hlinkClick r:id="rId7">
                  <a:extLst>
                    <a:ext uri="{A12FA001-AC4F-418D-AE19-62706E023703}">
                      <ahyp:hlinkClr xmlns:ahyp="http://schemas.microsoft.com/office/drawing/2018/hyperlinkcolor" val="tx"/>
                    </a:ext>
                  </a:extLst>
                </a:hlinkClick>
              </a:rPr>
              <a:t>*3, Abhishek Mishra*4, </a:t>
            </a:r>
            <a:r>
              <a:rPr lang="en-US" sz="5600" b="0" dirty="0" err="1">
                <a:solidFill>
                  <a:schemeClr val="tx1">
                    <a:lumMod val="95000"/>
                    <a:lumOff val="5000"/>
                  </a:schemeClr>
                </a:solidFill>
                <a:effectLst/>
                <a:latin typeface="Angsana New" panose="02020603050405020304" pitchFamily="18" charset="-34"/>
                <a:ea typeface="Calibri" panose="020F0502020204030204" pitchFamily="34" charset="0"/>
                <a:cs typeface="Angsana New" panose="02020603050405020304" pitchFamily="18" charset="-34"/>
                <a:hlinkClick r:id="rId7">
                  <a:extLst>
                    <a:ext uri="{A12FA001-AC4F-418D-AE19-62706E023703}">
                      <ahyp:hlinkClr xmlns:ahyp="http://schemas.microsoft.com/office/drawing/2018/hyperlinkcolor" val="tx"/>
                    </a:ext>
                  </a:extLst>
                </a:hlinkClick>
              </a:rPr>
              <a:t>Shreyash</a:t>
            </a:r>
            <a:r>
              <a:rPr lang="en-US" sz="5600" b="0" dirty="0">
                <a:solidFill>
                  <a:schemeClr val="tx1">
                    <a:lumMod val="95000"/>
                    <a:lumOff val="5000"/>
                  </a:schemeClr>
                </a:solidFill>
                <a:effectLst/>
                <a:latin typeface="Angsana New" panose="02020603050405020304" pitchFamily="18" charset="-34"/>
                <a:ea typeface="Calibri" panose="020F0502020204030204" pitchFamily="34" charset="0"/>
                <a:cs typeface="Angsana New" panose="02020603050405020304" pitchFamily="18" charset="-34"/>
                <a:hlinkClick r:id="rId7">
                  <a:extLst>
                    <a:ext uri="{A12FA001-AC4F-418D-AE19-62706E023703}">
                      <ahyp:hlinkClr xmlns:ahyp="http://schemas.microsoft.com/office/drawing/2018/hyperlinkcolor" val="tx"/>
                    </a:ext>
                  </a:extLst>
                </a:hlinkClick>
              </a:rPr>
              <a:t> </a:t>
            </a:r>
            <a:r>
              <a:rPr lang="en-US" sz="5600" b="0" dirty="0" err="1">
                <a:solidFill>
                  <a:schemeClr val="tx1">
                    <a:lumMod val="95000"/>
                    <a:lumOff val="5000"/>
                  </a:schemeClr>
                </a:solidFill>
                <a:effectLst/>
                <a:latin typeface="Angsana New" panose="02020603050405020304" pitchFamily="18" charset="-34"/>
                <a:ea typeface="Calibri" panose="020F0502020204030204" pitchFamily="34" charset="0"/>
                <a:cs typeface="Angsana New" panose="02020603050405020304" pitchFamily="18" charset="-34"/>
                <a:hlinkClick r:id="rId7">
                  <a:extLst>
                    <a:ext uri="{A12FA001-AC4F-418D-AE19-62706E023703}">
                      <ahyp:hlinkClr xmlns:ahyp="http://schemas.microsoft.com/office/drawing/2018/hyperlinkcolor" val="tx"/>
                    </a:ext>
                  </a:extLst>
                </a:hlinkClick>
              </a:rPr>
              <a:t>Wakade</a:t>
            </a:r>
            <a:r>
              <a:rPr lang="en-US" sz="5600" b="0" dirty="0">
                <a:solidFill>
                  <a:schemeClr val="tx1">
                    <a:lumMod val="95000"/>
                    <a:lumOff val="5000"/>
                  </a:schemeClr>
                </a:solidFill>
                <a:effectLst/>
                <a:latin typeface="Angsana New" panose="02020603050405020304" pitchFamily="18" charset="-34"/>
                <a:ea typeface="Calibri" panose="020F0502020204030204" pitchFamily="34" charset="0"/>
                <a:cs typeface="Angsana New" panose="02020603050405020304" pitchFamily="18" charset="-34"/>
                <a:hlinkClick r:id="rId7">
                  <a:extLst>
                    <a:ext uri="{A12FA001-AC4F-418D-AE19-62706E023703}">
                      <ahyp:hlinkClr xmlns:ahyp="http://schemas.microsoft.com/office/drawing/2018/hyperlinkcolor" val="tx"/>
                    </a:ext>
                  </a:extLst>
                </a:hlinkClick>
              </a:rPr>
              <a:t>*5, Saurabh </a:t>
            </a:r>
            <a:r>
              <a:rPr lang="en-US" sz="5600" b="0" dirty="0" err="1">
                <a:solidFill>
                  <a:schemeClr val="tx1">
                    <a:lumMod val="95000"/>
                    <a:lumOff val="5000"/>
                  </a:schemeClr>
                </a:solidFill>
                <a:effectLst/>
                <a:latin typeface="Angsana New" panose="02020603050405020304" pitchFamily="18" charset="-34"/>
                <a:ea typeface="Calibri" panose="020F0502020204030204" pitchFamily="34" charset="0"/>
                <a:cs typeface="Angsana New" panose="02020603050405020304" pitchFamily="18" charset="-34"/>
                <a:hlinkClick r:id="rId7">
                  <a:extLst>
                    <a:ext uri="{A12FA001-AC4F-418D-AE19-62706E023703}">
                      <ahyp:hlinkClr xmlns:ahyp="http://schemas.microsoft.com/office/drawing/2018/hyperlinkcolor" val="tx"/>
                    </a:ext>
                  </a:extLst>
                </a:hlinkClick>
              </a:rPr>
              <a:t>Sadmake</a:t>
            </a:r>
            <a:r>
              <a:rPr lang="en-US" sz="5600" b="0" dirty="0">
                <a:solidFill>
                  <a:schemeClr val="tx1">
                    <a:lumMod val="95000"/>
                    <a:lumOff val="5000"/>
                  </a:schemeClr>
                </a:solidFill>
                <a:effectLst/>
                <a:latin typeface="Angsana New" panose="02020603050405020304" pitchFamily="18" charset="-34"/>
                <a:ea typeface="Calibri" panose="020F0502020204030204" pitchFamily="34" charset="0"/>
                <a:cs typeface="Angsana New" panose="02020603050405020304" pitchFamily="18" charset="-34"/>
                <a:hlinkClick r:id="rId7">
                  <a:extLst>
                    <a:ext uri="{A12FA001-AC4F-418D-AE19-62706E023703}">
                      <ahyp:hlinkClr xmlns:ahyp="http://schemas.microsoft.com/office/drawing/2018/hyperlinkcolor" val="tx"/>
                    </a:ext>
                  </a:extLst>
                </a:hlinkClick>
              </a:rPr>
              <a:t>*6 *1Asst. Professor, Department Of Electronics And Power, Priyadarshini College Of Engineering, Nagpur, Maharashtra, India. *2,3,4,5,6Student, Department Of Electronics And Power, Priyadarshini College Of Engineering, Nagpur, Maharashtra, India. DOI : https://www.doi.org/10.56726/IRJMETS3622</a:t>
            </a:r>
          </a:p>
          <a:p>
            <a:br>
              <a:rPr lang="en-US" sz="1800" u="sng" dirty="0">
                <a:solidFill>
                  <a:srgbClr val="3F66BF"/>
                </a:solidFill>
                <a:effectLst/>
                <a:latin typeface="Arial" panose="020B0604020202020204" pitchFamily="34" charset="0"/>
                <a:ea typeface="Calibri" panose="020F0502020204030204" pitchFamily="34" charset="0"/>
                <a:cs typeface="Arial" panose="020B0604020202020204" pitchFamily="34" charset="0"/>
                <a:hlinkClick r:id="rId7">
                  <a:extLst>
                    <a:ext uri="{A12FA001-AC4F-418D-AE19-62706E023703}">
                      <ahyp:hlinkClr xmlns:ahyp="http://schemas.microsoft.com/office/drawing/2018/hyperlinkcolor" val="tx"/>
                    </a:ext>
                  </a:extLst>
                </a:hlinkClick>
              </a:rPr>
            </a:br>
            <a:br>
              <a:rPr lang="en-US" sz="1800" i="1" u="sng" dirty="0">
                <a:solidFill>
                  <a:srgbClr val="3F66BF"/>
                </a:solidFill>
                <a:effectLst/>
                <a:latin typeface="Arial" panose="020B0604020202020204" pitchFamily="34" charset="0"/>
                <a:ea typeface="Calibri" panose="020F0502020204030204" pitchFamily="34" charset="0"/>
                <a:cs typeface="Arial" panose="020B0604020202020204" pitchFamily="34" charset="0"/>
                <a:hlinkClick r:id="rId7">
                  <a:extLst>
                    <a:ext uri="{A12FA001-AC4F-418D-AE19-62706E023703}">
                      <ahyp:hlinkClr xmlns:ahyp="http://schemas.microsoft.com/office/drawing/2018/hyperlinkcolor" val="tx"/>
                    </a:ext>
                  </a:extLst>
                </a:hlinkClick>
              </a:rPr>
            </a:b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80184616"/>
      </p:ext>
    </p:extLst>
  </p:cSld>
  <p:clrMapOvr>
    <a:masterClrMapping/>
  </p:clrMapOvr>
</p:sld>
</file>

<file path=ppt/theme/theme1.xml><?xml version="1.0" encoding="utf-8"?>
<a:theme xmlns:a="http://schemas.openxmlformats.org/drawingml/2006/main" name="ShojiVTI">
  <a:themeElements>
    <a:clrScheme name="AnalogousFromRegularSeed_2SEEDS">
      <a:dk1>
        <a:srgbClr val="000000"/>
      </a:dk1>
      <a:lt1>
        <a:srgbClr val="FFFFFF"/>
      </a:lt1>
      <a:dk2>
        <a:srgbClr val="312B1B"/>
      </a:dk2>
      <a:lt2>
        <a:srgbClr val="F0F1F3"/>
      </a:lt2>
      <a:accent1>
        <a:srgbClr val="B18E3B"/>
      </a:accent1>
      <a:accent2>
        <a:srgbClr val="C36E4D"/>
      </a:accent2>
      <a:accent3>
        <a:srgbClr val="9CA742"/>
      </a:accent3>
      <a:accent4>
        <a:srgbClr val="3B9BB1"/>
      </a:accent4>
      <a:accent5>
        <a:srgbClr val="4D7BC3"/>
      </a:accent5>
      <a:accent6>
        <a:srgbClr val="4E4BB8"/>
      </a:accent6>
      <a:hlink>
        <a:srgbClr val="3F66BF"/>
      </a:hlink>
      <a:folHlink>
        <a:srgbClr val="7F7F7F"/>
      </a:folHlink>
    </a:clrScheme>
    <a:fontScheme name="Custom 7">
      <a:majorFont>
        <a:latin typeface="Meiryo"/>
        <a:ea typeface=""/>
        <a:cs typeface=""/>
      </a:majorFont>
      <a:minorFont>
        <a:latin typeface="Meiryo"/>
        <a:ea typeface=""/>
        <a:cs typeface=""/>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ojiVTI" id="{00D0DDEB-E771-48E5-9E96-0647434F08B1}" vid="{9D22D596-7FD0-4F89-958C-AD79A0949111}"/>
    </a:ext>
  </a:extLst>
</a:theme>
</file>

<file path=docProps/app.xml><?xml version="1.0" encoding="utf-8"?>
<Properties xmlns="http://schemas.openxmlformats.org/officeDocument/2006/extended-properties" xmlns:vt="http://schemas.openxmlformats.org/officeDocument/2006/docPropsVTypes">
  <TotalTime>6</TotalTime>
  <Words>680</Words>
  <Application>Microsoft Office PowerPoint</Application>
  <PresentationFormat>Widescreen</PresentationFormat>
  <Paragraphs>55</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Meiryo</vt:lpstr>
      <vt:lpstr>Angsana New</vt:lpstr>
      <vt:lpstr>Arial</vt:lpstr>
      <vt:lpstr>Calibri</vt:lpstr>
      <vt:lpstr>Corbel</vt:lpstr>
      <vt:lpstr>DM Sans Medium</vt:lpstr>
      <vt:lpstr>ShojiVTI</vt:lpstr>
      <vt:lpstr>PowerPoint Presentation</vt:lpstr>
      <vt:lpstr>Smart-SOLAR energy harvesting system</vt:lpstr>
      <vt:lpstr>Abstract with keyword</vt:lpstr>
      <vt:lpstr>Introduction</vt:lpstr>
      <vt:lpstr>Problem statement with Objective</vt:lpstr>
      <vt:lpstr>Algorithm or methods</vt:lpstr>
      <vt:lpstr>PowerPoint Presentation</vt:lpstr>
      <vt:lpstr>Modules</vt:lpstr>
      <vt:lpstr>Output</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energy harvesting system</dc:title>
  <dc:creator>kakdeayush376@gmail.com</dc:creator>
  <cp:lastModifiedBy>HP</cp:lastModifiedBy>
  <cp:revision>30</cp:revision>
  <dcterms:created xsi:type="dcterms:W3CDTF">2024-11-03T05:36:09Z</dcterms:created>
  <dcterms:modified xsi:type="dcterms:W3CDTF">2024-11-05T02:34:43Z</dcterms:modified>
</cp:coreProperties>
</file>